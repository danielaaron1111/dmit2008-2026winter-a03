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6858000" cy="9144000"/>
  <p:embeddedFontLst>
    <p:embeddedFont>
      <p:font typeface="Roboto Slab"/>
      <p:regular r:id="rId13"/>
      <p:bold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Roboto Mono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obotoMono-bold.fntdata"/><Relationship Id="rId11" Type="http://schemas.openxmlformats.org/officeDocument/2006/relationships/slide" Target="slides/slide7.xml"/><Relationship Id="rId22" Type="http://schemas.openxmlformats.org/officeDocument/2006/relationships/font" Target="fonts/RobotoMono-boldItalic.fntdata"/><Relationship Id="rId10" Type="http://schemas.openxmlformats.org/officeDocument/2006/relationships/slide" Target="slides/slide6.xml"/><Relationship Id="rId21" Type="http://schemas.openxmlformats.org/officeDocument/2006/relationships/font" Target="fonts/RobotoMono-italic.fntdata"/><Relationship Id="rId13" Type="http://schemas.openxmlformats.org/officeDocument/2006/relationships/font" Target="fonts/RobotoSlab-regular.fnt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font" Target="fonts/Roboto-regular.fntdata"/><Relationship Id="rId14" Type="http://schemas.openxmlformats.org/officeDocument/2006/relationships/font" Target="fonts/RobotoSlab-bold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5" Type="http://schemas.openxmlformats.org/officeDocument/2006/relationships/slide" Target="slides/slide1.xml"/><Relationship Id="rId19" Type="http://schemas.openxmlformats.org/officeDocument/2006/relationships/font" Target="fonts/RobotoMono-regular.fntdata"/><Relationship Id="rId6" Type="http://schemas.openxmlformats.org/officeDocument/2006/relationships/slide" Target="slides/slide2.xml"/><Relationship Id="rId18" Type="http://schemas.openxmlformats.org/officeDocument/2006/relationships/font" Target="fonts/Roboto-boldItalic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5ad3a4879e_2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5ad3a4879e_2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4c141908b7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4c141908b7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80fb9f6395_4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80fb9f6395_4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15cd47e326e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15cd47e326e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15cd503524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15cd503524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1620d828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1620d828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7bc0a4b21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7bc0a4b21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24800" y="672606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sp>
        <p:nvSpPr>
          <p:cNvPr id="11" name="Google Shape;11;p2"/>
          <p:cNvSpPr/>
          <p:nvPr/>
        </p:nvSpPr>
        <p:spPr>
          <a:xfrm rot="10800000">
            <a:off x="6537563" y="3342925"/>
            <a:ext cx="1081625" cy="1124950"/>
          </a:xfrm>
          <a:custGeom>
            <a:rect b="b" l="l" r="r" t="t"/>
            <a:pathLst>
              <a:path extrusionOk="0" h="44998" w="43265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cap="flat" cmpd="sng" w="28575">
            <a:solidFill>
              <a:schemeClr val="accent5"/>
            </a:solidFill>
            <a:prstDash val="solid"/>
            <a:miter lim="8000"/>
            <a:headEnd len="sm" w="sm" type="none"/>
            <a:tailEnd len="sm" w="sm" type="none"/>
          </a:ln>
        </p:spPr>
      </p:sp>
      <p:cxnSp>
        <p:nvCxnSpPr>
          <p:cNvPr id="12" name="Google Shape;12;p2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3" name="Google Shape;13;p2"/>
          <p:cNvSpPr txBox="1"/>
          <p:nvPr>
            <p:ph type="ctrTitle"/>
          </p:nvPr>
        </p:nvSpPr>
        <p:spPr>
          <a:xfrm>
            <a:off x="1680302" y="1188925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400"/>
              <a:buFont typeface="Roboto Slab"/>
              <a:buNone/>
              <a:defRPr sz="2400">
                <a:solidFill>
                  <a:schemeClr val="accent5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Google Shape;17;p3"/>
          <p:cNvCxnSpPr/>
          <p:nvPr/>
        </p:nvCxnSpPr>
        <p:spPr>
          <a:xfrm>
            <a:off x="4359602" y="281746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3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Google Shape;21;p4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4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" name="Google Shape;26;p5"/>
          <p:cNvCxnSpPr/>
          <p:nvPr/>
        </p:nvCxnSpPr>
        <p:spPr>
          <a:xfrm>
            <a:off x="492563" y="1260284"/>
            <a:ext cx="4248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7" name="Google Shape;27;p5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879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756200" y="14898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Google Shape;35;p7"/>
          <p:cNvCxnSpPr/>
          <p:nvPr/>
        </p:nvCxnSpPr>
        <p:spPr>
          <a:xfrm>
            <a:off x="489218" y="1412277"/>
            <a:ext cx="331500" cy="0"/>
          </a:xfrm>
          <a:prstGeom prst="straightConnector1">
            <a:avLst/>
          </a:prstGeom>
          <a:noFill/>
          <a:ln cap="flat" cmpd="sng" w="381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6" name="Google Shape;36;p7"/>
          <p:cNvSpPr txBox="1"/>
          <p:nvPr>
            <p:ph type="title"/>
          </p:nvPr>
        </p:nvSpPr>
        <p:spPr>
          <a:xfrm>
            <a:off x="3879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87900" y="1594025"/>
            <a:ext cx="2808000" cy="268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1" name="Google Shape;41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4" name="Google Shape;44;p9"/>
          <p:cNvCxnSpPr/>
          <p:nvPr/>
        </p:nvCxnSpPr>
        <p:spPr>
          <a:xfrm>
            <a:off x="5029675" y="4495503"/>
            <a:ext cx="540900" cy="0"/>
          </a:xfrm>
          <a:prstGeom prst="straightConnector1">
            <a:avLst/>
          </a:prstGeom>
          <a:noFill/>
          <a:ln cap="flat" cmpd="sng" w="381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5" name="Google Shape;45;p9"/>
          <p:cNvSpPr txBox="1"/>
          <p:nvPr>
            <p:ph type="title"/>
          </p:nvPr>
        </p:nvSpPr>
        <p:spPr>
          <a:xfrm>
            <a:off x="265500" y="120907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46" name="Google Shape;46;p9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2100"/>
              <a:buNone/>
              <a:defRPr sz="21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47" name="Google Shape;47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8" name="Google Shape;4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 txBox="1"/>
          <p:nvPr>
            <p:ph idx="1" type="body"/>
          </p:nvPr>
        </p:nvSpPr>
        <p:spPr>
          <a:xfrm>
            <a:off x="319500" y="4233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 Slab"/>
              <a:buNone/>
              <a:defRPr>
                <a:latin typeface="Roboto Slab"/>
                <a:ea typeface="Roboto Slab"/>
                <a:cs typeface="Roboto Slab"/>
                <a:sym typeface="Roboto Slab"/>
              </a:defRPr>
            </a:lvl1pPr>
          </a:lstStyle>
          <a:p/>
        </p:txBody>
      </p:sp>
      <p:sp>
        <p:nvSpPr>
          <p:cNvPr id="51" name="Google Shape;5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1"/>
          <p:cNvSpPr/>
          <p:nvPr/>
        </p:nvSpPr>
        <p:spPr>
          <a:xfrm>
            <a:off x="150" y="5076825"/>
            <a:ext cx="9143700" cy="66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87900" y="1152450"/>
            <a:ext cx="83682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3000"/>
              <a:buNone/>
              <a:defRPr sz="13000">
                <a:solidFill>
                  <a:schemeClr val="accent5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87900" y="2919450"/>
            <a:ext cx="83682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rina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 Slab"/>
              <a:buNone/>
              <a:defRPr sz="3000">
                <a:solidFill>
                  <a:schemeClr val="dk1"/>
                </a:solidFill>
                <a:latin typeface="Roboto Slab"/>
                <a:ea typeface="Roboto Slab"/>
                <a:cs typeface="Roboto Slab"/>
                <a:sym typeface="Roboto Slab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Roboto"/>
              <a:buChar char="●"/>
              <a:defRPr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●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oboto"/>
              <a:buChar char="○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oboto"/>
              <a:buChar char="■"/>
              <a:defRPr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github.com/HackerNews/API#items" TargetMode="External"/><Relationship Id="rId4" Type="http://schemas.openxmlformats.org/officeDocument/2006/relationships/hyperlink" Target="https://jsfiddle.net/dgmouris/9ug6518w/14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github.com/typicode/json-server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3"/>
          <p:cNvSpPr txBox="1"/>
          <p:nvPr>
            <p:ph type="ctrTitle"/>
          </p:nvPr>
        </p:nvSpPr>
        <p:spPr>
          <a:xfrm>
            <a:off x="1628877" y="1219800"/>
            <a:ext cx="5783400" cy="1457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State and REST APIs</a:t>
            </a:r>
            <a:endParaRPr/>
          </a:p>
        </p:txBody>
      </p:sp>
      <p:sp>
        <p:nvSpPr>
          <p:cNvPr id="64" name="Google Shape;64;p13"/>
          <p:cNvSpPr txBox="1"/>
          <p:nvPr>
            <p:ph idx="1" type="subTitle"/>
          </p:nvPr>
        </p:nvSpPr>
        <p:spPr>
          <a:xfrm>
            <a:off x="1680302" y="3049450"/>
            <a:ext cx="5783400" cy="90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Javascript DMIT 2008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4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Announcements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248400" y="1440025"/>
            <a:ext cx="4045200" cy="150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are we?</a:t>
            </a:r>
            <a:endParaRPr/>
          </a:p>
        </p:txBody>
      </p:sp>
      <p:sp>
        <p:nvSpPr>
          <p:cNvPr id="75" name="Google Shape;75;p15"/>
          <p:cNvSpPr txBox="1"/>
          <p:nvPr>
            <p:ph idx="2" type="body"/>
          </p:nvPr>
        </p:nvSpPr>
        <p:spPr>
          <a:xfrm>
            <a:off x="4937025" y="724200"/>
            <a:ext cx="42972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Expectations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React State and REST APIs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Introduction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Example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A Custom Backend</a:t>
            </a:r>
            <a:endParaRPr sz="1600"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AutoNum type="alphaLcPeriod"/>
            </a:pPr>
            <a:r>
              <a:rPr lang="en" sz="1600"/>
              <a:t>JSON-server</a:t>
            </a:r>
            <a:endParaRPr sz="1600"/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SzPts val="1600"/>
              <a:buAutoNum type="arabicPeriod"/>
            </a:pPr>
            <a:r>
              <a:rPr lang="en" sz="1600"/>
              <a:t>Examples</a:t>
            </a:r>
            <a:endParaRPr sz="16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Expectations - What I expect from you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87900" y="1489824"/>
            <a:ext cx="83682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Late Assignments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No Cheating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Be a good classmate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Don’t go to stupid sites in class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Show up to class </a:t>
            </a:r>
            <a:br>
              <a:rPr lang="en"/>
            </a:br>
            <a:r>
              <a:rPr lang="en"/>
              <a:t>(10 mins I shut the door. Send me a message if you show up all the time or if you get in an accident and I’ll let you in.)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State and REST APIs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87900" y="1377050"/>
            <a:ext cx="8368200" cy="256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At the beginning of the course we used REST APIs to get data from various sources. In the last section we took a look at how we can affect State in react.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Now we’re going to put them together, and also talk about how to run a small “backend” web server so that we can practice with a customizable REST API that we do what we want. Using a custom backend is most likely what you’ll be doing in the workplace that you work at.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Let’s go dive in!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React State and REST APIs - Example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87900" y="1247575"/>
            <a:ext cx="3385500" cy="340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/>
              <a:t>Let’s take a look at an example on the right. We’re </a:t>
            </a:r>
            <a:r>
              <a:rPr lang="en" sz="1200"/>
              <a:t>going</a:t>
            </a:r>
            <a:r>
              <a:rPr lang="en" sz="1200"/>
              <a:t> to use the </a:t>
            </a:r>
            <a:r>
              <a:rPr lang="en" sz="1200" u="sng">
                <a:solidFill>
                  <a:schemeClr val="hlink"/>
                </a:solidFill>
                <a:hlinkClick r:id="rId3"/>
              </a:rPr>
              <a:t>hacker news api</a:t>
            </a:r>
            <a:r>
              <a:rPr lang="en" sz="1200"/>
              <a:t> to display some data, take a look at the data to see what is returned.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200"/>
              <a:t>Take a look at the JSX first, you see see that we’re only going to display the link if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restData</a:t>
            </a:r>
            <a:r>
              <a:rPr lang="en" sz="1200"/>
              <a:t>” is defined or true. You can also see the original value of </a:t>
            </a:r>
            <a:r>
              <a:rPr lang="en" sz="1200"/>
              <a:t>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restData</a:t>
            </a:r>
            <a:r>
              <a:rPr lang="en" sz="1200"/>
              <a:t>”</a:t>
            </a:r>
            <a:r>
              <a:rPr lang="en" sz="1200"/>
              <a:t>will be “undefined”.</a:t>
            </a:r>
            <a:endParaRPr sz="12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1200"/>
              <a:t>Now if you click the button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clickHandler</a:t>
            </a:r>
            <a:r>
              <a:rPr lang="en" sz="1200"/>
              <a:t>” will execute. In the function we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fetch(</a:t>
            </a:r>
            <a:r>
              <a:rPr lang="en" sz="9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SAMPLE_URL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r>
              <a:rPr lang="en" sz="1200"/>
              <a:t>”, in the final promise resolution we use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setRestData(data)</a:t>
            </a:r>
            <a:r>
              <a:rPr lang="en" sz="1200"/>
              <a:t>” to update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restData</a:t>
            </a:r>
            <a:r>
              <a:rPr lang="en" sz="1200"/>
              <a:t>”. This will change the “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restData</a:t>
            </a:r>
            <a:r>
              <a:rPr lang="en" sz="1200"/>
              <a:t>” to be a defined object and will display on the page.</a:t>
            </a:r>
            <a:endParaRPr sz="1200"/>
          </a:p>
        </p:txBody>
      </p:sp>
      <p:sp>
        <p:nvSpPr>
          <p:cNvPr id="94" name="Google Shape;94;p18"/>
          <p:cNvSpPr txBox="1"/>
          <p:nvPr/>
        </p:nvSpPr>
        <p:spPr>
          <a:xfrm>
            <a:off x="3773325" y="1489825"/>
            <a:ext cx="5515500" cy="340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</a:t>
            </a:r>
            <a:r>
              <a:rPr lang="en" sz="9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SAMPLE_URL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= </a:t>
            </a:r>
            <a:r>
              <a:rPr lang="en" sz="950">
                <a:solidFill>
                  <a:srgbClr val="9CCC65"/>
                </a:solidFill>
                <a:latin typeface="Roboto Mono"/>
                <a:ea typeface="Roboto Mono"/>
                <a:cs typeface="Roboto Mono"/>
                <a:sym typeface="Roboto Mono"/>
              </a:rPr>
              <a:t>"https://hacker-news.firebaseio.com/v0/item/8863.json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App = ()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[restData, setRestData] = React.useState();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const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clickHandler = (event) 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fetch(</a:t>
            </a:r>
            <a:r>
              <a:rPr lang="en" sz="950">
                <a:solidFill>
                  <a:srgbClr val="FBC02D"/>
                </a:solidFill>
                <a:latin typeface="Roboto Mono"/>
                <a:ea typeface="Roboto Mono"/>
                <a:cs typeface="Roboto Mono"/>
                <a:sym typeface="Roboto Mono"/>
              </a:rPr>
              <a:t>SAMPLE_URL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.then((response)=&gt;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response.json()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}).then((data)=&gt; {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setRestData(data)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})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en" sz="950">
                <a:solidFill>
                  <a:srgbClr val="4DD0E1"/>
                </a:solidFill>
                <a:latin typeface="Roboto Mono"/>
                <a:ea typeface="Roboto Mono"/>
                <a:cs typeface="Roboto Mono"/>
                <a:sym typeface="Roboto Mono"/>
              </a:rPr>
              <a:t>return</a:t>
            </a: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(&lt;div&gt;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&lt;p&gt;{ restData &amp;&amp; 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    &lt;a href={restData.url}&gt;{restData.title}&lt;/a&gt;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}&lt;/p&gt;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  &lt;button onClick ={clickHandler}&gt;Load Data&lt;/button&gt;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    &lt;/div&gt;);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467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50">
              <a:solidFill>
                <a:srgbClr val="ECEFF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773325" y="1144125"/>
            <a:ext cx="3240600" cy="34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200" u="sng">
                <a:solidFill>
                  <a:schemeClr val="hlink"/>
                </a:solidFill>
                <a:hlinkClick r:id="rId4"/>
              </a:rPr>
              <a:t>Example of REST APIs with state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87900" y="458025"/>
            <a:ext cx="8368200" cy="686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Custom Backend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87900" y="12612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In both the previous JavaScript course and the current course, we’ve been using external REST APIs that have been shared. Which is </a:t>
            </a:r>
            <a:r>
              <a:rPr lang="en" sz="1400"/>
              <a:t>really</a:t>
            </a:r>
            <a:r>
              <a:rPr lang="en" sz="1400"/>
              <a:t> cool because we can just use them as needed!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In reality when you’ll be in the work place, when working with a frontend you’ll most likely be working with a custom backend.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We’re going to use a custom backend and run it </a:t>
            </a:r>
            <a:r>
              <a:rPr lang="en"/>
              <a:t>at the same time (but separately) to our next.js projects.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We’ll be using the </a:t>
            </a:r>
            <a:r>
              <a:rPr lang="en" u="sng">
                <a:solidFill>
                  <a:schemeClr val="hlink"/>
                </a:solidFill>
                <a:hlinkClick r:id="rId3"/>
              </a:rPr>
              <a:t>“json-server” project</a:t>
            </a:r>
            <a:r>
              <a:rPr lang="en"/>
              <a:t> to create an easy to use back end. </a:t>
            </a:r>
            <a:endParaRPr/>
          </a:p>
        </p:txBody>
      </p:sp>
      <p:sp>
        <p:nvSpPr>
          <p:cNvPr id="102" name="Google Shape;102;p19"/>
          <p:cNvSpPr txBox="1"/>
          <p:nvPr>
            <p:ph idx="2" type="body"/>
          </p:nvPr>
        </p:nvSpPr>
        <p:spPr>
          <a:xfrm>
            <a:off x="4756200" y="1261225"/>
            <a:ext cx="3999900" cy="3078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Install the json-server with the following command.</a:t>
            </a:r>
            <a:endParaRPr/>
          </a:p>
          <a:p>
            <a:pPr indent="0" lvl="0" marL="0" rtl="0" algn="l">
              <a:lnSpc>
                <a:spcPct val="146739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npm install -g json-server</a:t>
            </a:r>
            <a:b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Make sure you have a json file that will act as your database such as “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reviews-db.json</a:t>
            </a:r>
            <a:r>
              <a:rPr lang="en"/>
              <a:t>” and then run it with the following command.</a:t>
            </a:r>
            <a:endParaRPr/>
          </a:p>
          <a:p>
            <a:pPr indent="0" lvl="0" marL="0" rtl="0" algn="l">
              <a:lnSpc>
                <a:spcPct val="146739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n</a:t>
            </a:r>
            <a: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  <a:t>px json-server --watch reviews-db.json</a:t>
            </a:r>
            <a:br>
              <a:rPr lang="en" sz="1150">
                <a:solidFill>
                  <a:srgbClr val="ECEFF1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/>
          </a:p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Note: we’ll be running this in a separate folder than our next.js project.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480750" y="1764950"/>
            <a:ext cx="8222100" cy="907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arina">
  <a:themeElements>
    <a:clrScheme name="Marina">
      <a:dk1>
        <a:srgbClr val="FFFFFF"/>
      </a:dk1>
      <a:lt1>
        <a:srgbClr val="00517C"/>
      </a:lt1>
      <a:dk2>
        <a:srgbClr val="004065"/>
      </a:dk2>
      <a:lt2>
        <a:srgbClr val="CFD8DC"/>
      </a:lt2>
      <a:accent1>
        <a:srgbClr val="0277BD"/>
      </a:accent1>
      <a:accent2>
        <a:srgbClr val="558B2F"/>
      </a:accent2>
      <a:accent3>
        <a:srgbClr val="009688"/>
      </a:accent3>
      <a:accent4>
        <a:srgbClr val="039BE5"/>
      </a:accent4>
      <a:accent5>
        <a:srgbClr val="8BC34A"/>
      </a:accent5>
      <a:accent6>
        <a:srgbClr val="FFEB38"/>
      </a:accent6>
      <a:hlink>
        <a:srgbClr val="8BC34A"/>
      </a:hlink>
      <a:folHlink>
        <a:srgbClr val="8BC34A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