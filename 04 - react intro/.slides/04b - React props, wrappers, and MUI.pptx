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oboto Slab"/>
      <p:regular r:id="rId14"/>
      <p:bold r:id="rId15"/>
    </p:embeddedFont>
    <p:embeddedFont>
      <p:font typeface="Roboto"/>
      <p:regular r:id="rId16"/>
      <p:bold r:id="rId17"/>
      <p:italic r:id="rId18"/>
      <p:boldItalic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7.xml"/><Relationship Id="rId22" Type="http://schemas.openxmlformats.org/officeDocument/2006/relationships/font" Target="fonts/RobotoMono-italic.fntdata"/><Relationship Id="rId10" Type="http://schemas.openxmlformats.org/officeDocument/2006/relationships/slide" Target="slides/slide6.xml"/><Relationship Id="rId21" Type="http://schemas.openxmlformats.org/officeDocument/2006/relationships/font" Target="fonts/RobotoMono-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Slab-bold.fntdata"/><Relationship Id="rId14" Type="http://schemas.openxmlformats.org/officeDocument/2006/relationships/font" Target="fonts/RobotoSlab-regular.fntdata"/><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slide" Target="slides/slide1.xml"/><Relationship Id="rId19" Type="http://schemas.openxmlformats.org/officeDocument/2006/relationships/font" Target="fonts/Roboto-boldItalic.fntdata"/><Relationship Id="rId6" Type="http://schemas.openxmlformats.org/officeDocument/2006/relationships/slide" Target="slides/slide2.xml"/><Relationship Id="rId18"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ad3a4879e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ad3a4879e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141908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141908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80fb9f6395_4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80fb9f6395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559c3568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559c3568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559c35685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559c35685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559c35685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559c35685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559c35685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559c35685d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559c35685d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559c35685d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jsfiddle.net/dgmouris/gejuyt9w/3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jsfiddle.net/dgmouris/gejuyt9w/8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jsfiddle.net/dgmouris/gejuyt9w/10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mui.com/" TargetMode="External"/><Relationship Id="rId4" Type="http://schemas.openxmlformats.org/officeDocument/2006/relationships/hyperlink" Target="https://mui.com/material-ui/getting-started/overvie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React and Next.js</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Javascript DMIT 2008</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48400" y="1440025"/>
            <a:ext cx="4045200" cy="150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are we?</a:t>
            </a:r>
            <a:endParaRPr/>
          </a:p>
        </p:txBody>
      </p:sp>
      <p:sp>
        <p:nvSpPr>
          <p:cNvPr id="75" name="Google Shape;75;p15"/>
          <p:cNvSpPr txBox="1"/>
          <p:nvPr>
            <p:ph idx="2" type="body"/>
          </p:nvPr>
        </p:nvSpPr>
        <p:spPr>
          <a:xfrm>
            <a:off x="4946900" y="1086825"/>
            <a:ext cx="3762600" cy="36951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AutoNum type="arabicPeriod"/>
            </a:pPr>
            <a:r>
              <a:rPr lang="en" sz="1600"/>
              <a:t>Expectations</a:t>
            </a:r>
            <a:endParaRPr sz="1600"/>
          </a:p>
          <a:p>
            <a:pPr indent="-330200" lvl="0" marL="457200" rtl="0" algn="l">
              <a:spcBef>
                <a:spcPts val="0"/>
              </a:spcBef>
              <a:spcAft>
                <a:spcPts val="0"/>
              </a:spcAft>
              <a:buSzPts val="1600"/>
              <a:buAutoNum type="arabicPeriod"/>
            </a:pPr>
            <a:r>
              <a:rPr lang="en" sz="1600"/>
              <a:t>Review of What we know about React so far.</a:t>
            </a:r>
            <a:endParaRPr sz="1600"/>
          </a:p>
          <a:p>
            <a:pPr indent="-330200" lvl="0" marL="457200" rtl="0" algn="l">
              <a:spcBef>
                <a:spcPts val="0"/>
              </a:spcBef>
              <a:spcAft>
                <a:spcPts val="0"/>
              </a:spcAft>
              <a:buSzPts val="1600"/>
              <a:buAutoNum type="arabicPeriod"/>
            </a:pPr>
            <a:r>
              <a:rPr lang="en" sz="1600"/>
              <a:t>Props and Passing Data into a component.</a:t>
            </a:r>
            <a:endParaRPr sz="1600"/>
          </a:p>
          <a:p>
            <a:pPr indent="-330200" lvl="0" marL="457200" rtl="0" algn="l">
              <a:spcBef>
                <a:spcPts val="0"/>
              </a:spcBef>
              <a:spcAft>
                <a:spcPts val="0"/>
              </a:spcAft>
              <a:buSzPts val="1600"/>
              <a:buAutoNum type="arabicPeriod"/>
            </a:pPr>
            <a:r>
              <a:rPr lang="en" sz="1600"/>
              <a:t>Wrapping and Child Components</a:t>
            </a:r>
            <a:endParaRPr sz="1600"/>
          </a:p>
          <a:p>
            <a:pPr indent="-330200" lvl="0" marL="457200" rtl="0" algn="l">
              <a:spcBef>
                <a:spcPts val="0"/>
              </a:spcBef>
              <a:spcAft>
                <a:spcPts val="0"/>
              </a:spcAft>
              <a:buSzPts val="1600"/>
              <a:buAutoNum type="arabicPeriod"/>
            </a:pPr>
            <a:r>
              <a:rPr lang="en" sz="1600"/>
              <a:t>Using lists in JSX in React</a:t>
            </a:r>
            <a:endParaRPr sz="1600"/>
          </a:p>
          <a:p>
            <a:pPr indent="-330200" lvl="0" marL="457200" rtl="0" algn="l">
              <a:spcBef>
                <a:spcPts val="0"/>
              </a:spcBef>
              <a:spcAft>
                <a:spcPts val="0"/>
              </a:spcAft>
              <a:buSzPts val="1600"/>
              <a:buAutoNum type="arabicPeriod"/>
            </a:pPr>
            <a:r>
              <a:rPr lang="en" sz="1600"/>
              <a:t>External Component Libraries and Getting Started with Material UI.</a:t>
            </a:r>
            <a:endParaRPr sz="1600"/>
          </a:p>
          <a:p>
            <a:pPr indent="-330200" lvl="0" marL="457200" rtl="0" algn="l">
              <a:spcBef>
                <a:spcPts val="0"/>
              </a:spcBef>
              <a:spcAft>
                <a:spcPts val="0"/>
              </a:spcAft>
              <a:buSzPts val="1600"/>
              <a:buAutoNum type="arabicPeriod"/>
            </a:pPr>
            <a:r>
              <a:rPr lang="en" sz="1600"/>
              <a:t>Examples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Expectations - What I expect from you</a:t>
            </a:r>
            <a:endParaRPr/>
          </a:p>
        </p:txBody>
      </p:sp>
      <p:sp>
        <p:nvSpPr>
          <p:cNvPr id="81" name="Google Shape;81;p1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No Late Assignments</a:t>
            </a:r>
            <a:endParaRPr/>
          </a:p>
          <a:p>
            <a:pPr indent="-342900" lvl="0" marL="457200" rtl="0" algn="l">
              <a:spcBef>
                <a:spcPts val="0"/>
              </a:spcBef>
              <a:spcAft>
                <a:spcPts val="0"/>
              </a:spcAft>
              <a:buSzPts val="1800"/>
              <a:buAutoNum type="arabicPeriod"/>
            </a:pPr>
            <a:r>
              <a:rPr lang="en"/>
              <a:t>No Cheating</a:t>
            </a:r>
            <a:endParaRPr/>
          </a:p>
          <a:p>
            <a:pPr indent="-342900" lvl="0" marL="457200" rtl="0" algn="l">
              <a:spcBef>
                <a:spcPts val="0"/>
              </a:spcBef>
              <a:spcAft>
                <a:spcPts val="0"/>
              </a:spcAft>
              <a:buSzPts val="1800"/>
              <a:buAutoNum type="arabicPeriod"/>
            </a:pPr>
            <a:r>
              <a:rPr lang="en"/>
              <a:t>Be a good classmate</a:t>
            </a:r>
            <a:endParaRPr/>
          </a:p>
          <a:p>
            <a:pPr indent="-342900" lvl="0" marL="457200" rtl="0" algn="l">
              <a:spcBef>
                <a:spcPts val="0"/>
              </a:spcBef>
              <a:spcAft>
                <a:spcPts val="0"/>
              </a:spcAft>
              <a:buSzPts val="1800"/>
              <a:buAutoNum type="arabicPeriod"/>
            </a:pPr>
            <a:r>
              <a:rPr lang="en"/>
              <a:t>Don’t go to stupid sites in class </a:t>
            </a:r>
            <a:endParaRPr/>
          </a:p>
          <a:p>
            <a:pPr indent="-342900" lvl="0" marL="457200" rtl="0" algn="l">
              <a:spcBef>
                <a:spcPts val="0"/>
              </a:spcBef>
              <a:spcAft>
                <a:spcPts val="0"/>
              </a:spcAft>
              <a:buSzPts val="1800"/>
              <a:buAutoNum type="arabicPeriod"/>
            </a:pPr>
            <a:r>
              <a:rPr lang="en"/>
              <a:t>Show up to class </a:t>
            </a:r>
            <a:br>
              <a:rPr lang="en"/>
            </a:br>
            <a:r>
              <a:rPr lang="en"/>
              <a:t>(10 mins I shut the door. Send me a message if you show up all the time or if you get in an accident and I’ll let you 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Props and Passing Data into a Component</a:t>
            </a:r>
            <a:endParaRPr/>
          </a:p>
        </p:txBody>
      </p:sp>
      <p:sp>
        <p:nvSpPr>
          <p:cNvPr id="87" name="Google Shape;87;p17"/>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Components are functions in React and you’ll want them to be flexible, and you’ll want to pass information into your component and create different behaviours.</a:t>
            </a:r>
            <a:endParaRPr sz="1100"/>
          </a:p>
          <a:p>
            <a:pPr indent="0" lvl="0" marL="0" rtl="0" algn="l">
              <a:spcBef>
                <a:spcPts val="1600"/>
              </a:spcBef>
              <a:spcAft>
                <a:spcPts val="0"/>
              </a:spcAft>
              <a:buNone/>
            </a:pPr>
            <a:r>
              <a:rPr lang="en" sz="1100"/>
              <a:t>You pass in data by what’s called a “prop”, when you’re using it in JSX it looks an feels a lot like an HTML attribute (except it can be JS, which we’ll see in more examples).</a:t>
            </a:r>
            <a:endParaRPr sz="1100"/>
          </a:p>
          <a:p>
            <a:pPr indent="0" lvl="0" marL="0" rtl="0" algn="l">
              <a:spcBef>
                <a:spcPts val="1600"/>
              </a:spcBef>
              <a:spcAft>
                <a:spcPts val="0"/>
              </a:spcAft>
              <a:buNone/>
            </a:pPr>
            <a:r>
              <a:rPr lang="en" sz="1100"/>
              <a:t>On the right we have an example of a component named “</a:t>
            </a:r>
            <a:r>
              <a:rPr lang="en" sz="1050">
                <a:solidFill>
                  <a:srgbClr val="ECEFF1"/>
                </a:solidFill>
                <a:latin typeface="Roboto Mono"/>
                <a:ea typeface="Roboto Mono"/>
                <a:cs typeface="Roboto Mono"/>
                <a:sym typeface="Roboto Mono"/>
              </a:rPr>
              <a:t>DansCat</a:t>
            </a:r>
            <a:r>
              <a:rPr lang="en" sz="1100"/>
              <a:t>” with a “</a:t>
            </a:r>
            <a:r>
              <a:rPr lang="en" sz="1050">
                <a:solidFill>
                  <a:srgbClr val="ECEFF1"/>
                </a:solidFill>
                <a:latin typeface="Roboto Mono"/>
                <a:ea typeface="Roboto Mono"/>
                <a:cs typeface="Roboto Mono"/>
                <a:sym typeface="Roboto Mono"/>
              </a:rPr>
              <a:t>props</a:t>
            </a:r>
            <a:r>
              <a:rPr lang="en" sz="1100"/>
              <a:t>” param. You see in the components’ JSX we use “</a:t>
            </a:r>
            <a:r>
              <a:rPr lang="en" sz="1050">
                <a:solidFill>
                  <a:srgbClr val="ECEFF1"/>
                </a:solidFill>
                <a:latin typeface="Roboto Mono"/>
                <a:ea typeface="Roboto Mono"/>
                <a:cs typeface="Roboto Mono"/>
                <a:sym typeface="Roboto Mono"/>
              </a:rPr>
              <a:t>{props.name}</a:t>
            </a:r>
            <a:r>
              <a:rPr lang="en" sz="1100"/>
              <a:t>”.</a:t>
            </a:r>
            <a:endParaRPr sz="1100"/>
          </a:p>
          <a:p>
            <a:pPr indent="0" lvl="0" marL="0" rtl="0" algn="l">
              <a:spcBef>
                <a:spcPts val="1600"/>
              </a:spcBef>
              <a:spcAft>
                <a:spcPts val="1600"/>
              </a:spcAft>
              <a:buNone/>
            </a:pPr>
            <a:r>
              <a:rPr lang="en" sz="1100"/>
              <a:t>You see when we use </a:t>
            </a:r>
            <a:r>
              <a:rPr lang="en" sz="1100"/>
              <a:t>“</a:t>
            </a:r>
            <a:r>
              <a:rPr lang="en" sz="1050">
                <a:solidFill>
                  <a:srgbClr val="ECEFF1"/>
                </a:solidFill>
                <a:latin typeface="Roboto Mono"/>
                <a:ea typeface="Roboto Mono"/>
                <a:cs typeface="Roboto Mono"/>
                <a:sym typeface="Roboto Mono"/>
              </a:rPr>
              <a:t>DansCat</a:t>
            </a:r>
            <a:r>
              <a:rPr lang="en" sz="1100"/>
              <a:t>”  in other components that we pass in “</a:t>
            </a:r>
            <a:r>
              <a:rPr lang="en" sz="1150">
                <a:solidFill>
                  <a:srgbClr val="ECEFF1"/>
                </a:solidFill>
                <a:latin typeface="Roboto Mono"/>
                <a:ea typeface="Roboto Mono"/>
                <a:cs typeface="Roboto Mono"/>
                <a:sym typeface="Roboto Mono"/>
              </a:rPr>
              <a:t>name=</a:t>
            </a:r>
            <a:r>
              <a:rPr lang="en" sz="1150">
                <a:solidFill>
                  <a:srgbClr val="9CCC65"/>
                </a:solidFill>
                <a:latin typeface="Roboto Mono"/>
                <a:ea typeface="Roboto Mono"/>
                <a:cs typeface="Roboto Mono"/>
                <a:sym typeface="Roboto Mono"/>
              </a:rPr>
              <a:t>"Ghost"</a:t>
            </a:r>
            <a:r>
              <a:rPr lang="en" sz="1100"/>
              <a:t>” as what we call a Prop to get different behaviors of “</a:t>
            </a:r>
            <a:r>
              <a:rPr lang="en" sz="1050">
                <a:solidFill>
                  <a:srgbClr val="ECEFF1"/>
                </a:solidFill>
                <a:latin typeface="Roboto Mono"/>
                <a:ea typeface="Roboto Mono"/>
                <a:cs typeface="Roboto Mono"/>
                <a:sym typeface="Roboto Mono"/>
              </a:rPr>
              <a:t>DansCat</a:t>
            </a:r>
            <a:r>
              <a:rPr lang="en" sz="1100"/>
              <a:t>” depending on what we pass in.</a:t>
            </a:r>
            <a:endParaRPr sz="1100"/>
          </a:p>
        </p:txBody>
      </p:sp>
      <p:sp>
        <p:nvSpPr>
          <p:cNvPr id="88" name="Google Shape;88;p17"/>
          <p:cNvSpPr txBox="1"/>
          <p:nvPr/>
        </p:nvSpPr>
        <p:spPr>
          <a:xfrm>
            <a:off x="5153150" y="3179850"/>
            <a:ext cx="4304100" cy="10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import the component from the correct path</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import</a:t>
            </a:r>
            <a:r>
              <a:rPr lang="en" sz="1150">
                <a:solidFill>
                  <a:srgbClr val="ECEFF1"/>
                </a:solidFill>
                <a:latin typeface="Roboto Mono"/>
                <a:ea typeface="Roboto Mono"/>
                <a:cs typeface="Roboto Mono"/>
                <a:sym typeface="Roboto Mono"/>
              </a:rPr>
              <a:t> DansCat </a:t>
            </a:r>
            <a:r>
              <a:rPr lang="en" sz="1150">
                <a:solidFill>
                  <a:srgbClr val="4DD0E1"/>
                </a:solidFill>
                <a:latin typeface="Roboto Mono"/>
                <a:ea typeface="Roboto Mono"/>
                <a:cs typeface="Roboto Mono"/>
                <a:sym typeface="Roboto Mono"/>
              </a:rPr>
              <a:t>from</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'../components/DansCat.js'</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usage in the JSX</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&lt;DansCat name=</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p:txBody>
      </p:sp>
      <p:sp>
        <p:nvSpPr>
          <p:cNvPr id="89" name="Google Shape;89;p17"/>
          <p:cNvSpPr txBox="1"/>
          <p:nvPr/>
        </p:nvSpPr>
        <p:spPr>
          <a:xfrm>
            <a:off x="5169150" y="2884675"/>
            <a:ext cx="36864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200">
                <a:solidFill>
                  <a:schemeClr val="dk1"/>
                </a:solidFill>
                <a:latin typeface="Roboto"/>
                <a:ea typeface="Roboto"/>
                <a:cs typeface="Roboto"/>
                <a:sym typeface="Roboto"/>
              </a:rPr>
              <a:t>JSX Usage (using </a:t>
            </a:r>
            <a:r>
              <a:rPr lang="en" sz="1150">
                <a:solidFill>
                  <a:srgbClr val="ECEFF1"/>
                </a:solidFill>
                <a:latin typeface="Roboto Mono"/>
                <a:ea typeface="Roboto Mono"/>
                <a:cs typeface="Roboto Mono"/>
                <a:sym typeface="Roboto Mono"/>
              </a:rPr>
              <a:t>DansCat</a:t>
            </a:r>
            <a:r>
              <a:rPr lang="en" sz="1200">
                <a:solidFill>
                  <a:schemeClr val="dk1"/>
                </a:solidFill>
                <a:latin typeface="Roboto"/>
                <a:ea typeface="Roboto"/>
                <a:cs typeface="Roboto"/>
                <a:sym typeface="Roboto"/>
              </a:rPr>
              <a:t>) in other components </a:t>
            </a:r>
            <a:endParaRPr/>
          </a:p>
        </p:txBody>
      </p:sp>
      <p:sp>
        <p:nvSpPr>
          <p:cNvPr id="90" name="Google Shape;90;p17"/>
          <p:cNvSpPr txBox="1"/>
          <p:nvPr>
            <p:ph idx="1" type="body"/>
          </p:nvPr>
        </p:nvSpPr>
        <p:spPr>
          <a:xfrm>
            <a:off x="5169150" y="1315425"/>
            <a:ext cx="38001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Definition of </a:t>
            </a:r>
            <a:r>
              <a:rPr lang="en" sz="1150">
                <a:solidFill>
                  <a:srgbClr val="ECEFF1"/>
                </a:solidFill>
                <a:latin typeface="Roboto Mono"/>
                <a:ea typeface="Roboto Mono"/>
                <a:cs typeface="Roboto Mono"/>
                <a:sym typeface="Roboto Mono"/>
              </a:rPr>
              <a:t>DansCat</a:t>
            </a:r>
            <a:r>
              <a:rPr lang="en" sz="1200"/>
              <a:t> JS Component (export  </a:t>
            </a:r>
            <a:endParaRPr sz="1200"/>
          </a:p>
        </p:txBody>
      </p:sp>
      <p:sp>
        <p:nvSpPr>
          <p:cNvPr id="91" name="Google Shape;91;p17"/>
          <p:cNvSpPr txBox="1"/>
          <p:nvPr>
            <p:ph idx="1" type="body"/>
          </p:nvPr>
        </p:nvSpPr>
        <p:spPr>
          <a:xfrm>
            <a:off x="5169150" y="4363425"/>
            <a:ext cx="38001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u="sng">
                <a:solidFill>
                  <a:schemeClr val="hlink"/>
                </a:solidFill>
                <a:hlinkClick r:id="rId3"/>
              </a:rPr>
              <a:t>Demo for Props</a:t>
            </a:r>
            <a:endParaRPr sz="1200"/>
          </a:p>
        </p:txBody>
      </p:sp>
      <p:sp>
        <p:nvSpPr>
          <p:cNvPr id="92" name="Google Shape;92;p17"/>
          <p:cNvSpPr txBox="1"/>
          <p:nvPr/>
        </p:nvSpPr>
        <p:spPr>
          <a:xfrm>
            <a:off x="5169150" y="1576125"/>
            <a:ext cx="3800100" cy="10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export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default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DansCat(props)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(&lt;p&gt;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Hello Mr. {props.name}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&lt;/p&gt;);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Wrapping</a:t>
            </a:r>
            <a:r>
              <a:rPr lang="en"/>
              <a:t> and Child Components</a:t>
            </a:r>
            <a:endParaRPr/>
          </a:p>
        </p:txBody>
      </p:sp>
      <p:sp>
        <p:nvSpPr>
          <p:cNvPr id="98" name="Google Shape;98;p18"/>
          <p:cNvSpPr txBox="1"/>
          <p:nvPr>
            <p:ph idx="1" type="body"/>
          </p:nvPr>
        </p:nvSpPr>
        <p:spPr>
          <a:xfrm>
            <a:off x="387900" y="11850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Now we’ve learned about props we’ll learn about a special prop named “</a:t>
            </a:r>
            <a:r>
              <a:rPr lang="en" sz="950">
                <a:solidFill>
                  <a:srgbClr val="ECEFF1"/>
                </a:solidFill>
                <a:latin typeface="Roboto Mono"/>
                <a:ea typeface="Roboto Mono"/>
                <a:cs typeface="Roboto Mono"/>
                <a:sym typeface="Roboto Mono"/>
              </a:rPr>
              <a:t>children</a:t>
            </a:r>
            <a:r>
              <a:rPr lang="en" sz="1200"/>
              <a:t>” this allows us to use our component to “wrap” components to give them all a specified behaviour.</a:t>
            </a:r>
            <a:endParaRPr sz="1200"/>
          </a:p>
          <a:p>
            <a:pPr indent="0" lvl="0" marL="0" rtl="0" algn="l">
              <a:spcBef>
                <a:spcPts val="1600"/>
              </a:spcBef>
              <a:spcAft>
                <a:spcPts val="0"/>
              </a:spcAft>
              <a:buNone/>
            </a:pPr>
            <a:r>
              <a:rPr lang="en" sz="1200"/>
              <a:t>We’ll use this in this course but not all the time. When is it appropriate?</a:t>
            </a:r>
            <a:endParaRPr sz="1200"/>
          </a:p>
          <a:p>
            <a:pPr indent="-304800" lvl="0" marL="457200" rtl="0" algn="l">
              <a:spcBef>
                <a:spcPts val="1600"/>
              </a:spcBef>
              <a:spcAft>
                <a:spcPts val="0"/>
              </a:spcAft>
              <a:buSzPts val="1200"/>
              <a:buChar char="●"/>
            </a:pPr>
            <a:r>
              <a:rPr lang="en" sz="1200"/>
              <a:t>Using some type of Layout styling.</a:t>
            </a:r>
            <a:endParaRPr sz="1200"/>
          </a:p>
          <a:p>
            <a:pPr indent="-304800" lvl="0" marL="457200" rtl="0" algn="l">
              <a:spcBef>
                <a:spcPts val="0"/>
              </a:spcBef>
              <a:spcAft>
                <a:spcPts val="0"/>
              </a:spcAft>
              <a:buSzPts val="1200"/>
              <a:buChar char="●"/>
            </a:pPr>
            <a:r>
              <a:rPr lang="en" sz="1200"/>
              <a:t>Applying</a:t>
            </a:r>
            <a:r>
              <a:rPr lang="en" sz="1200"/>
              <a:t> some type of application state (we’ll have a module on this later)</a:t>
            </a:r>
            <a:endParaRPr sz="1200"/>
          </a:p>
          <a:p>
            <a:pPr indent="0" lvl="0" marL="0" rtl="0" algn="l">
              <a:spcBef>
                <a:spcPts val="1600"/>
              </a:spcBef>
              <a:spcAft>
                <a:spcPts val="1600"/>
              </a:spcAft>
              <a:buNone/>
            </a:pPr>
            <a:r>
              <a:rPr lang="en" sz="1200"/>
              <a:t>Let’s take a look at the example on the right, we have a “</a:t>
            </a:r>
            <a:r>
              <a:rPr lang="en" sz="1150">
                <a:solidFill>
                  <a:srgbClr val="4DD0E1"/>
                </a:solidFill>
                <a:latin typeface="Roboto Mono"/>
                <a:ea typeface="Roboto Mono"/>
                <a:cs typeface="Roboto Mono"/>
                <a:sym typeface="Roboto Mono"/>
              </a:rPr>
              <a:t>BackgroundWrapper</a:t>
            </a:r>
            <a:r>
              <a:rPr lang="en" sz="1200"/>
              <a:t>” that has two paragraphs in the JSX. These two paragraphs will be the “</a:t>
            </a:r>
            <a:r>
              <a:rPr lang="en" sz="1150">
                <a:solidFill>
                  <a:srgbClr val="ECEFF1"/>
                </a:solidFill>
                <a:latin typeface="Roboto Mono"/>
                <a:ea typeface="Roboto Mono"/>
                <a:cs typeface="Roboto Mono"/>
                <a:sym typeface="Roboto Mono"/>
              </a:rPr>
              <a:t>children</a:t>
            </a:r>
            <a:r>
              <a:rPr lang="en" sz="1200"/>
              <a:t>” prop of the “</a:t>
            </a:r>
            <a:r>
              <a:rPr lang="en" sz="1150">
                <a:solidFill>
                  <a:srgbClr val="ECEFF1"/>
                </a:solidFill>
                <a:latin typeface="Roboto Mono"/>
                <a:ea typeface="Roboto Mono"/>
                <a:cs typeface="Roboto Mono"/>
                <a:sym typeface="Roboto Mono"/>
              </a:rPr>
              <a:t>BackgroundWrapper</a:t>
            </a:r>
            <a:r>
              <a:rPr lang="en" sz="1200"/>
              <a:t>” definition.</a:t>
            </a:r>
            <a:endParaRPr sz="1200"/>
          </a:p>
        </p:txBody>
      </p:sp>
      <p:sp>
        <p:nvSpPr>
          <p:cNvPr id="99" name="Google Shape;99;p18"/>
          <p:cNvSpPr txBox="1"/>
          <p:nvPr>
            <p:ph idx="1" type="body"/>
          </p:nvPr>
        </p:nvSpPr>
        <p:spPr>
          <a:xfrm>
            <a:off x="4640825" y="1489825"/>
            <a:ext cx="34008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JSX Usage</a:t>
            </a:r>
            <a:endParaRPr sz="1200"/>
          </a:p>
        </p:txBody>
      </p:sp>
      <p:sp>
        <p:nvSpPr>
          <p:cNvPr id="100" name="Google Shape;100;p18"/>
          <p:cNvSpPr txBox="1"/>
          <p:nvPr>
            <p:ph idx="1" type="body"/>
          </p:nvPr>
        </p:nvSpPr>
        <p:spPr>
          <a:xfrm>
            <a:off x="4640825" y="2705825"/>
            <a:ext cx="34008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JS Component Definition</a:t>
            </a:r>
            <a:endParaRPr sz="1200"/>
          </a:p>
        </p:txBody>
      </p:sp>
      <p:sp>
        <p:nvSpPr>
          <p:cNvPr id="101" name="Google Shape;101;p18"/>
          <p:cNvSpPr txBox="1"/>
          <p:nvPr/>
        </p:nvSpPr>
        <p:spPr>
          <a:xfrm>
            <a:off x="4681750" y="1750525"/>
            <a:ext cx="4434900" cy="8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&lt;BackgroundWrapper&gt;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&lt;p&gt;</a:t>
            </a:r>
            <a:r>
              <a:rPr lang="en" sz="1150">
                <a:solidFill>
                  <a:srgbClr val="ECEFF1"/>
                </a:solidFill>
                <a:latin typeface="Roboto Mono"/>
                <a:ea typeface="Roboto Mono"/>
                <a:cs typeface="Roboto Mono"/>
                <a:sym typeface="Roboto Mono"/>
              </a:rPr>
              <a:t>Errmergerd this is some react</a:t>
            </a:r>
            <a:r>
              <a:rPr lang="en" sz="1150">
                <a:solidFill>
                  <a:srgbClr val="4DD0E1"/>
                </a:solidFill>
                <a:latin typeface="Roboto Mono"/>
                <a:ea typeface="Roboto Mono"/>
                <a:cs typeface="Roboto Mono"/>
                <a:sym typeface="Roboto Mono"/>
              </a:rPr>
              <a:t>&lt;/p&gt;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&lt;p&gt;</a:t>
            </a:r>
            <a:r>
              <a:rPr lang="en" sz="1150">
                <a:solidFill>
                  <a:srgbClr val="ECEFF1"/>
                </a:solidFill>
                <a:latin typeface="Roboto Mono"/>
                <a:ea typeface="Roboto Mono"/>
                <a:cs typeface="Roboto Mono"/>
                <a:sym typeface="Roboto Mono"/>
              </a:rPr>
              <a:t> What a way to wrap elements</a:t>
            </a:r>
            <a:r>
              <a:rPr lang="en" sz="1150">
                <a:solidFill>
                  <a:srgbClr val="4DD0E1"/>
                </a:solidFill>
                <a:latin typeface="Roboto Mono"/>
                <a:ea typeface="Roboto Mono"/>
                <a:cs typeface="Roboto Mono"/>
                <a:sym typeface="Roboto Mono"/>
              </a:rPr>
              <a:t>&lt;/p&gt;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4DD0E1"/>
                </a:solidFill>
                <a:latin typeface="Roboto Mono"/>
                <a:ea typeface="Roboto Mono"/>
                <a:cs typeface="Roboto Mono"/>
                <a:sym typeface="Roboto Mono"/>
              </a:rPr>
              <a:t>&lt;/BackgroundWrapper&gt;</a:t>
            </a:r>
            <a:endParaRPr sz="1150">
              <a:solidFill>
                <a:srgbClr val="4DD0E1"/>
              </a:solidFill>
              <a:latin typeface="Roboto Mono"/>
              <a:ea typeface="Roboto Mono"/>
              <a:cs typeface="Roboto Mono"/>
              <a:sym typeface="Roboto Mono"/>
            </a:endParaRPr>
          </a:p>
        </p:txBody>
      </p:sp>
      <p:sp>
        <p:nvSpPr>
          <p:cNvPr id="102" name="Google Shape;102;p18"/>
          <p:cNvSpPr txBox="1"/>
          <p:nvPr>
            <p:ph idx="1" type="body"/>
          </p:nvPr>
        </p:nvSpPr>
        <p:spPr>
          <a:xfrm>
            <a:off x="4640825" y="4001225"/>
            <a:ext cx="34008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u="sng">
                <a:solidFill>
                  <a:schemeClr val="hlink"/>
                </a:solidFill>
                <a:hlinkClick r:id="rId3"/>
              </a:rPr>
              <a:t>Demo For Wrappers</a:t>
            </a:r>
            <a:endParaRPr sz="1200"/>
          </a:p>
        </p:txBody>
      </p:sp>
      <p:sp>
        <p:nvSpPr>
          <p:cNvPr id="103" name="Google Shape;103;p18"/>
          <p:cNvSpPr txBox="1"/>
          <p:nvPr/>
        </p:nvSpPr>
        <p:spPr>
          <a:xfrm>
            <a:off x="4634050" y="2931425"/>
            <a:ext cx="5937300" cy="10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export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default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BackgroundWrapper(props){</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 className=</a:t>
            </a:r>
            <a:r>
              <a:rPr lang="en" sz="1150">
                <a:solidFill>
                  <a:srgbClr val="9CCC65"/>
                </a:solidFill>
                <a:latin typeface="Roboto Mono"/>
                <a:ea typeface="Roboto Mono"/>
                <a:cs typeface="Roboto Mono"/>
                <a:sym typeface="Roboto Mono"/>
              </a:rPr>
              <a:t>"color-theme"</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{props.children}</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Lists in React </a:t>
            </a:r>
            <a:endParaRPr/>
          </a:p>
        </p:txBody>
      </p:sp>
      <p:sp>
        <p:nvSpPr>
          <p:cNvPr id="109" name="Google Shape;109;p19"/>
          <p:cNvSpPr txBox="1"/>
          <p:nvPr>
            <p:ph idx="1" type="body"/>
          </p:nvPr>
        </p:nvSpPr>
        <p:spPr>
          <a:xfrm>
            <a:off x="387900" y="11850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In HTML or in any web application you use lists all the time. In React you’ll be using “</a:t>
            </a:r>
            <a:r>
              <a:rPr lang="en" sz="1150">
                <a:solidFill>
                  <a:srgbClr val="ECEFF1"/>
                </a:solidFill>
                <a:latin typeface="Roboto Mono"/>
                <a:ea typeface="Roboto Mono"/>
                <a:cs typeface="Roboto Mono"/>
                <a:sym typeface="Roboto Mono"/>
              </a:rPr>
              <a:t>map</a:t>
            </a:r>
            <a:r>
              <a:rPr lang="en" sz="1200"/>
              <a:t>” and “</a:t>
            </a:r>
            <a:r>
              <a:rPr lang="en" sz="1150">
                <a:solidFill>
                  <a:srgbClr val="ECEFF1"/>
                </a:solidFill>
                <a:latin typeface="Roboto Mono"/>
                <a:ea typeface="Roboto Mono"/>
                <a:cs typeface="Roboto Mono"/>
                <a:sym typeface="Roboto Mono"/>
              </a:rPr>
              <a:t>filter</a:t>
            </a:r>
            <a:r>
              <a:rPr lang="en" sz="1200"/>
              <a:t>” in your in your JSX to return items from an array.</a:t>
            </a:r>
            <a:endParaRPr sz="1200"/>
          </a:p>
          <a:p>
            <a:pPr indent="0" lvl="0" marL="0" rtl="0" algn="l">
              <a:spcBef>
                <a:spcPts val="1600"/>
              </a:spcBef>
              <a:spcAft>
                <a:spcPts val="0"/>
              </a:spcAft>
              <a:buNone/>
            </a:pPr>
            <a:r>
              <a:rPr lang="en" sz="1200"/>
              <a:t>On the right we have an example of our “</a:t>
            </a:r>
            <a:r>
              <a:rPr lang="en" sz="1150">
                <a:solidFill>
                  <a:srgbClr val="ECEFF1"/>
                </a:solidFill>
                <a:latin typeface="Roboto Mono"/>
                <a:ea typeface="Roboto Mono"/>
                <a:cs typeface="Roboto Mono"/>
                <a:sym typeface="Roboto Mono"/>
              </a:rPr>
              <a:t>App</a:t>
            </a:r>
            <a:r>
              <a:rPr lang="en" sz="1200"/>
              <a:t>” that loops through the array “</a:t>
            </a:r>
            <a:r>
              <a:rPr lang="en" sz="1150">
                <a:solidFill>
                  <a:srgbClr val="ECEFF1"/>
                </a:solidFill>
                <a:latin typeface="Roboto Mono"/>
                <a:ea typeface="Roboto Mono"/>
                <a:cs typeface="Roboto Mono"/>
                <a:sym typeface="Roboto Mono"/>
              </a:rPr>
              <a:t>goodFoods</a:t>
            </a:r>
            <a:r>
              <a:rPr lang="en" sz="1200"/>
              <a:t>” to display each item.</a:t>
            </a:r>
            <a:endParaRPr sz="1200"/>
          </a:p>
          <a:p>
            <a:pPr indent="0" lvl="0" marL="0" rtl="0" algn="l">
              <a:spcBef>
                <a:spcPts val="1600"/>
              </a:spcBef>
              <a:spcAft>
                <a:spcPts val="0"/>
              </a:spcAft>
              <a:buNone/>
            </a:pPr>
            <a:r>
              <a:rPr lang="en" sz="1200"/>
              <a:t>In our JSX you’ll see that within the “</a:t>
            </a:r>
            <a:r>
              <a:rPr lang="en" sz="1150">
                <a:solidFill>
                  <a:srgbClr val="ECEFF1"/>
                </a:solidFill>
                <a:latin typeface="Roboto Mono"/>
                <a:ea typeface="Roboto Mono"/>
                <a:cs typeface="Roboto Mono"/>
                <a:sym typeface="Roboto Mono"/>
              </a:rPr>
              <a:t>ul</a:t>
            </a:r>
            <a:r>
              <a:rPr lang="en" sz="1200"/>
              <a:t>” we use the “</a:t>
            </a:r>
            <a:r>
              <a:rPr lang="en" sz="1150">
                <a:solidFill>
                  <a:srgbClr val="ECEFF1"/>
                </a:solidFill>
                <a:latin typeface="Roboto Mono"/>
                <a:ea typeface="Roboto Mono"/>
                <a:cs typeface="Roboto Mono"/>
                <a:sym typeface="Roboto Mono"/>
              </a:rPr>
              <a:t>{}</a:t>
            </a:r>
            <a:r>
              <a:rPr lang="en" sz="1200"/>
              <a:t>” to indicate that we’ll be “inserting js” in our JSX.</a:t>
            </a:r>
            <a:endParaRPr sz="1200"/>
          </a:p>
          <a:p>
            <a:pPr indent="0" lvl="0" marL="0" rtl="0" algn="l">
              <a:spcBef>
                <a:spcPts val="1600"/>
              </a:spcBef>
              <a:spcAft>
                <a:spcPts val="0"/>
              </a:spcAft>
              <a:buNone/>
            </a:pPr>
            <a:r>
              <a:rPr lang="en" sz="1200"/>
              <a:t>Next we use “</a:t>
            </a:r>
            <a:r>
              <a:rPr lang="en" sz="1150">
                <a:solidFill>
                  <a:srgbClr val="ECEFF1"/>
                </a:solidFill>
                <a:latin typeface="Roboto Mono"/>
                <a:ea typeface="Roboto Mono"/>
                <a:cs typeface="Roboto Mono"/>
                <a:sym typeface="Roboto Mono"/>
              </a:rPr>
              <a:t>goodFoods.map</a:t>
            </a:r>
            <a:r>
              <a:rPr lang="en" sz="1200"/>
              <a:t>” to </a:t>
            </a:r>
            <a:r>
              <a:rPr lang="en" sz="1200"/>
              <a:t>essentially return a new array of components. </a:t>
            </a:r>
            <a:endParaRPr sz="1200"/>
          </a:p>
          <a:p>
            <a:pPr indent="0" lvl="0" marL="0" rtl="0" algn="l">
              <a:spcBef>
                <a:spcPts val="1600"/>
              </a:spcBef>
              <a:spcAft>
                <a:spcPts val="1600"/>
              </a:spcAft>
              <a:buNone/>
            </a:pPr>
            <a:r>
              <a:rPr lang="en" sz="1200"/>
              <a:t>We return “</a:t>
            </a:r>
            <a:r>
              <a:rPr lang="en" sz="1150">
                <a:solidFill>
                  <a:srgbClr val="ECEFF1"/>
                </a:solidFill>
                <a:latin typeface="Roboto Mono"/>
                <a:ea typeface="Roboto Mono"/>
                <a:cs typeface="Roboto Mono"/>
                <a:sym typeface="Roboto Mono"/>
              </a:rPr>
              <a:t>&lt;li key={index}&gt;{food}&lt;/li&gt;</a:t>
            </a:r>
            <a:r>
              <a:rPr lang="en" sz="1200"/>
              <a:t>” in each iteration, where the “</a:t>
            </a:r>
            <a:r>
              <a:rPr lang="en" sz="1150">
                <a:solidFill>
                  <a:srgbClr val="ECEFF1"/>
                </a:solidFill>
                <a:latin typeface="Roboto Mono"/>
                <a:ea typeface="Roboto Mono"/>
                <a:cs typeface="Roboto Mono"/>
                <a:sym typeface="Roboto Mono"/>
              </a:rPr>
              <a:t>key={index}</a:t>
            </a:r>
            <a:r>
              <a:rPr lang="en" sz="1200"/>
              <a:t>” is a unique identifier for each item (it’s using the index) and the “</a:t>
            </a:r>
            <a:r>
              <a:rPr lang="en" sz="1150">
                <a:solidFill>
                  <a:srgbClr val="ECEFF1"/>
                </a:solidFill>
                <a:latin typeface="Roboto Mono"/>
                <a:ea typeface="Roboto Mono"/>
                <a:cs typeface="Roboto Mono"/>
                <a:sym typeface="Roboto Mono"/>
              </a:rPr>
              <a:t>{food}</a:t>
            </a:r>
            <a:r>
              <a:rPr lang="en" sz="1200"/>
              <a:t>” is being displayed as the “</a:t>
            </a:r>
            <a:r>
              <a:rPr lang="en" sz="1150">
                <a:solidFill>
                  <a:srgbClr val="ECEFF1"/>
                </a:solidFill>
                <a:latin typeface="Roboto Mono"/>
                <a:ea typeface="Roboto Mono"/>
                <a:cs typeface="Roboto Mono"/>
                <a:sym typeface="Roboto Mono"/>
              </a:rPr>
              <a:t>li</a:t>
            </a:r>
            <a:r>
              <a:rPr lang="en" sz="1200"/>
              <a:t>” content in the HTML</a:t>
            </a:r>
            <a:endParaRPr sz="1200"/>
          </a:p>
        </p:txBody>
      </p:sp>
      <p:sp>
        <p:nvSpPr>
          <p:cNvPr id="110" name="Google Shape;110;p19"/>
          <p:cNvSpPr txBox="1"/>
          <p:nvPr>
            <p:ph idx="1" type="body"/>
          </p:nvPr>
        </p:nvSpPr>
        <p:spPr>
          <a:xfrm>
            <a:off x="4640825" y="4382225"/>
            <a:ext cx="34008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u="sng">
                <a:solidFill>
                  <a:schemeClr val="hlink"/>
                </a:solidFill>
                <a:hlinkClick r:id="rId3"/>
              </a:rPr>
              <a:t>Demo Lists</a:t>
            </a:r>
            <a:endParaRPr sz="1200"/>
          </a:p>
        </p:txBody>
      </p:sp>
      <p:sp>
        <p:nvSpPr>
          <p:cNvPr id="111" name="Google Shape;111;p19"/>
          <p:cNvSpPr txBox="1"/>
          <p:nvPr/>
        </p:nvSpPr>
        <p:spPr>
          <a:xfrm>
            <a:off x="4598650" y="1268825"/>
            <a:ext cx="4825200" cy="31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goodFoods =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"Sushi"</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"Chicken Tikka Masala"</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"Vietnamese Subs"</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"Ramen"</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App()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&lt;h1&gt;Our Application&lt;/h1&gt;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&lt;ul&gt;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{goodFoods.map((food, index) =&gt;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&lt;li key={index}&gt;{food}&lt;/li&gt;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&lt;/ul&gt;;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12" name="Google Shape;112;p19"/>
          <p:cNvSpPr txBox="1"/>
          <p:nvPr>
            <p:ph idx="1" type="body"/>
          </p:nvPr>
        </p:nvSpPr>
        <p:spPr>
          <a:xfrm>
            <a:off x="4640825" y="988000"/>
            <a:ext cx="3400800" cy="41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t>Example using Lists</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External</a:t>
            </a:r>
            <a:r>
              <a:rPr lang="en"/>
              <a:t> Component Libraries and MUI</a:t>
            </a:r>
            <a:endParaRPr/>
          </a:p>
        </p:txBody>
      </p:sp>
      <p:sp>
        <p:nvSpPr>
          <p:cNvPr id="118" name="Google Shape;118;p20"/>
          <p:cNvSpPr txBox="1"/>
          <p:nvPr>
            <p:ph idx="1" type="body"/>
          </p:nvPr>
        </p:nvSpPr>
        <p:spPr>
          <a:xfrm>
            <a:off x="387900" y="1261225"/>
            <a:ext cx="85095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External libraries that use react is what makes react one of the most popular libraries in the world, and makes really nice to work with.</a:t>
            </a:r>
            <a:endParaRPr sz="1400"/>
          </a:p>
          <a:p>
            <a:pPr indent="0" lvl="0" marL="0" rtl="0" algn="l">
              <a:spcBef>
                <a:spcPts val="1600"/>
              </a:spcBef>
              <a:spcAft>
                <a:spcPts val="0"/>
              </a:spcAft>
              <a:buNone/>
            </a:pPr>
            <a:r>
              <a:rPr lang="en" sz="1400"/>
              <a:t>One of the first libraries we’ll integrate with is a component library named </a:t>
            </a:r>
            <a:r>
              <a:rPr lang="en" sz="1400" u="sng">
                <a:solidFill>
                  <a:schemeClr val="hlink"/>
                </a:solidFill>
                <a:hlinkClick r:id="rId3"/>
              </a:rPr>
              <a:t>Material UI</a:t>
            </a:r>
            <a:r>
              <a:rPr lang="en" sz="1400"/>
              <a:t>, you can think of this as an alternative to bootstrap.</a:t>
            </a:r>
            <a:endParaRPr sz="1400"/>
          </a:p>
          <a:p>
            <a:pPr indent="0" lvl="0" marL="0" rtl="0" algn="l">
              <a:spcBef>
                <a:spcPts val="1600"/>
              </a:spcBef>
              <a:spcAft>
                <a:spcPts val="0"/>
              </a:spcAft>
              <a:buNone/>
            </a:pPr>
            <a:r>
              <a:rPr lang="en" sz="1400"/>
              <a:t>One of the great things of Material UI is </a:t>
            </a:r>
            <a:r>
              <a:rPr lang="en" sz="1400" u="sng">
                <a:solidFill>
                  <a:schemeClr val="hlink"/>
                </a:solidFill>
                <a:hlinkClick r:id="rId4"/>
              </a:rPr>
              <a:t>it’s documentation</a:t>
            </a:r>
            <a:r>
              <a:rPr lang="en" sz="1400"/>
              <a:t>, as you go through your dev career you will begin to really appreciate projects with good documentation.</a:t>
            </a:r>
            <a:endParaRPr sz="1400"/>
          </a:p>
          <a:p>
            <a:pPr indent="0" lvl="0" marL="0" rtl="0" algn="l">
              <a:spcBef>
                <a:spcPts val="1600"/>
              </a:spcBef>
              <a:spcAft>
                <a:spcPts val="0"/>
              </a:spcAft>
              <a:buNone/>
            </a:pPr>
            <a:r>
              <a:rPr lang="en" sz="1400"/>
              <a:t>First though we’ll need to install it into our Next.js project! You can do so with the following command.</a:t>
            </a:r>
            <a:endParaRPr sz="1400"/>
          </a:p>
          <a:p>
            <a:pPr indent="0" lvl="0" marL="0" rtl="0" algn="l">
              <a:spcBef>
                <a:spcPts val="1600"/>
              </a:spcBef>
              <a:spcAft>
                <a:spcPts val="0"/>
              </a:spcAft>
              <a:buNone/>
            </a:pPr>
            <a:r>
              <a:t/>
            </a:r>
            <a:endParaRPr sz="1400"/>
          </a:p>
          <a:p>
            <a:pPr indent="0" lvl="0" marL="0" rtl="0" algn="l">
              <a:spcBef>
                <a:spcPts val="1600"/>
              </a:spcBef>
              <a:spcAft>
                <a:spcPts val="0"/>
              </a:spcAft>
              <a:buNone/>
            </a:pPr>
            <a:r>
              <a:rPr lang="en" sz="1400"/>
              <a:t>In this course, we’ll be using MUI and pointing out the documentation for the components that we’d like to use. The big thing to take away here is that you’ll need to read (a lot) documentation in your dev career.</a:t>
            </a:r>
            <a:endParaRPr sz="1400"/>
          </a:p>
          <a:p>
            <a:pPr indent="0" lvl="0" marL="0" rtl="0" algn="l">
              <a:spcBef>
                <a:spcPts val="1600"/>
              </a:spcBef>
              <a:spcAft>
                <a:spcPts val="1600"/>
              </a:spcAft>
              <a:buNone/>
            </a:pPr>
            <a:r>
              <a:t/>
            </a:r>
            <a:endParaRPr sz="1400"/>
          </a:p>
        </p:txBody>
      </p:sp>
      <p:sp>
        <p:nvSpPr>
          <p:cNvPr id="119" name="Google Shape;119;p20"/>
          <p:cNvSpPr txBox="1"/>
          <p:nvPr/>
        </p:nvSpPr>
        <p:spPr>
          <a:xfrm>
            <a:off x="455450" y="3836300"/>
            <a:ext cx="5751300" cy="361800"/>
          </a:xfrm>
          <a:prstGeom prst="rect">
            <a:avLst/>
          </a:prstGeom>
          <a:noFill/>
          <a:ln>
            <a:noFill/>
          </a:ln>
        </p:spPr>
        <p:txBody>
          <a:bodyPr anchorCtr="0" anchor="t" bIns="91425" lIns="91425" spcFirstLastPara="1" rIns="91425" wrap="square" tIns="91425">
            <a:spAutoFit/>
          </a:bodyPr>
          <a:lstStyle/>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npm install @mui/material @emotion/react @emotion/styled</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Examples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