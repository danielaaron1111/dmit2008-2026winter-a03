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tableStyles.xml" ContentType="application/vnd.openxmlformats-officedocument.presentationml.tableStyles+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2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47" d="114"/>
          <a:sy n="89" d="85"/>
        </p:scale>
        <p:origin x="107" y="116"/>
      </p:cViewPr>
      <p:guideLst>
        <p:guide pos="2880"/>
        <p:guide pos="162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notesMaster" Target="notesMasters/notesMaster1.xml"/><Relationship Id="rId25" Type="http://schemas.openxmlformats.org/officeDocument/2006/relationships/presProps" Target="presProps.xml" /><Relationship Id="rId26" Type="http://schemas.openxmlformats.org/officeDocument/2006/relationships/tableStyles" Target="tableStyles.xml" /><Relationship Id="rId2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074463383"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1016568"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92792620" name="Google Shape;60;p:notes"/>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89976997" name="Google Shape;61;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8260528" name="Google Shape;66;g5ad3a4879e_2_5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10183049" name="Google Shape;67;g5ad3a4879e_2_5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16947496" name="Google Shape;71;g4c141908b7_0_5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82209665" name="Google Shape;72;g4c141908b7_0_5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2868273" name="Google Shape;77;g80fb9f6395_4_5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36932764" name="Google Shape;78;g80fb9f6395_4_5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2030941" name="Google Shape;83;g80ce8dd93d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70146858" name="Google Shape;84;g80ce8dd93d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25564976" name="Google Shape;96;g813d6757f1_0_3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57362327" name="Google Shape;97;g813d6757f1_0_3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0362603" name="Google Shape;102;g12f06f6e180_0_2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51698084" name="Google Shape;103;g12f06f6e180_0_2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24529526" name="Google Shape;108;g12f06f6e180_0_8: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08299578" name="Google Shape;109;g12f06f6e180_0_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75177362" name="Google Shape;114;g12f06f6e180_0_3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26170086" name="Google Shape;115;g12f06f6e180_0_3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44515177" name="Google Shape;120;g813d6757f1_0_7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840733" name="Google Shape;121;g813d6757f1_0_7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75804620" name="Google Shape;126;g813d6757f1_0_64: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38494614" name="Google Shape;127;g813d6757f1_0_6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8410584" name="Google Shape;132;g12f06f6e180_0_2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59205635" name="Google Shape;133;g12f06f6e180_0_2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3525490" name="Google Shape;138;g813d6757f1_0_7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13235085" name="Google Shape;139;g813d6757f1_0_7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3666649" name="Google Shape;144;g813d6757f1_0_8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8797935" name="Google Shape;145;g813d6757f1_0_8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40019091" name="Google Shape;154;g813d6757f1_0_107: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09101573" name="Google Shape;155;g813d6757f1_0_10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74966724" name="Google Shape;164;g813d6757f1_0_11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66637670" name="Google Shape;165;g813d6757f1_0_1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19629409" name="Google Shape;174;g12f06f6e180_0_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61149291" name="Google Shape;175;g12f06f6e180_0_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89740568" name="Google Shape;180;g12f06f6e180_0_32: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27552606" name="Google Shape;181;g12f06f6e180_0_3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37720612" name="Google Shape;186;g12f06f6e180_0_1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80678355" name="Google Shape;187;g12f06f6e180_0_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9718525" name="Google Shape;192;g7b7fcc6223_3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39306339" name="Google Shape;193;g7b7fcc6223_3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005822226" name="Google Shape;10;p2"/>
          <p:cNvSpPr/>
          <p:nvPr/>
        </p:nvSpPr>
        <p:spPr bwMode="auto">
          <a:xfrm>
            <a:off x="1524800" y="672606"/>
            <a:ext cx="1081625" cy="1124950"/>
          </a:xfrm>
          <a:custGeom>
            <a:avLst/>
            <a:gdLst/>
            <a:ahLst/>
            <a:cxnLst/>
            <a:rect l="l" t="t" r="r" b="b"/>
            <a:pathLst>
              <a:path w="43265" h="44998" fill="norm" stroke="1"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055265151" name="Google Shape;11;p2"/>
          <p:cNvSpPr/>
          <p:nvPr/>
        </p:nvSpPr>
        <p:spPr bwMode="auto">
          <a:xfrm rot="10800000">
            <a:off x="6537563" y="3342925"/>
            <a:ext cx="1081625" cy="1124950"/>
          </a:xfrm>
          <a:custGeom>
            <a:avLst/>
            <a:gdLst/>
            <a:ahLst/>
            <a:cxnLst/>
            <a:rect l="l" t="t" r="r" b="b"/>
            <a:pathLst>
              <a:path w="43265" h="44998" fill="norm" stroke="1"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120381625" name="Google Shape;12;p2"/>
          <p:cNvCxnSpPr/>
          <p:nvPr/>
        </p:nvCxnSpPr>
        <p:spPr bwMode="auto">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553035900" name="Google Shape;13;p2"/>
          <p:cNvSpPr txBox="1"/>
          <p:nvPr>
            <p:ph type="ctrTitle"/>
          </p:nvPr>
        </p:nvSpPr>
        <p:spPr bwMode="auto">
          <a:xfrm>
            <a:off x="1680301"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pPr>
              <a:defRPr/>
            </a:pPr>
            <a:endParaRPr/>
          </a:p>
        </p:txBody>
      </p:sp>
      <p:sp>
        <p:nvSpPr>
          <p:cNvPr id="468133353" name="Google Shape;14;p2"/>
          <p:cNvSpPr txBox="1"/>
          <p:nvPr>
            <p:ph type="subTitle" idx="1"/>
          </p:nvPr>
        </p:nvSpPr>
        <p:spPr bwMode="auto">
          <a:xfrm>
            <a:off x="1680301"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defRPr>
            </a:lvl9pPr>
          </a:lstStyle>
          <a:p>
            <a:pPr>
              <a:defRPr/>
            </a:pPr>
            <a:endParaRPr/>
          </a:p>
        </p:txBody>
      </p:sp>
      <p:sp>
        <p:nvSpPr>
          <p:cNvPr id="967313448" name="Google Shape;15;p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cxnSp>
        <p:nvCxnSpPr>
          <p:cNvPr id="807641998" name="Google Shape;17;p3"/>
          <p:cNvCxnSpPr/>
          <p:nvPr/>
        </p:nvCxnSpPr>
        <p:spPr bwMode="auto">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684407383" name="Google Shape;18;p3"/>
          <p:cNvSpPr txBox="1"/>
          <p:nvPr>
            <p:ph type="title"/>
          </p:nvPr>
        </p:nvSpPr>
        <p:spPr bwMode="auto">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pPr>
              <a:defRPr/>
            </a:pPr>
            <a:endParaRPr/>
          </a:p>
        </p:txBody>
      </p:sp>
      <p:sp>
        <p:nvSpPr>
          <p:cNvPr id="1489480471" name="Google Shape;19;p3"/>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cxnSp>
        <p:nvCxnSpPr>
          <p:cNvPr id="1619707074" name="Google Shape;21;p4"/>
          <p:cNvCxnSpPr/>
          <p:nvPr/>
        </p:nvCxnSpPr>
        <p:spPr bwMode="auto">
          <a:xfrm>
            <a:off x="492563" y="1260283"/>
            <a:ext cx="424800" cy="0"/>
          </a:xfrm>
          <a:prstGeom prst="straightConnector1">
            <a:avLst/>
          </a:prstGeom>
          <a:noFill/>
          <a:ln w="38100" cap="flat" cmpd="sng">
            <a:solidFill>
              <a:schemeClr val="accent4"/>
            </a:solidFill>
            <a:prstDash val="solid"/>
            <a:round/>
            <a:headEnd type="none" w="sm" len="sm"/>
            <a:tailEnd type="none" w="sm" len="sm"/>
          </a:ln>
        </p:spPr>
      </p:cxnSp>
      <p:sp>
        <p:nvSpPr>
          <p:cNvPr id="731726255" name="Google Shape;22;p4"/>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pPr>
              <a:defRPr/>
            </a:pPr>
            <a:endParaRPr/>
          </a:p>
        </p:txBody>
      </p:sp>
      <p:sp>
        <p:nvSpPr>
          <p:cNvPr id="199033318" name="Google Shape;23;p4"/>
          <p:cNvSpPr txBox="1"/>
          <p:nvPr>
            <p:ph type="body" idx="1"/>
          </p:nvPr>
        </p:nvSpPr>
        <p:spPr bwMode="auto">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1230378295" name="Google Shape;24;p4"/>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2052333594" name="Google Shape;32;p6"/>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pPr>
              <a:defRPr/>
            </a:pPr>
            <a:endParaRPr/>
          </a:p>
        </p:txBody>
      </p:sp>
      <p:sp>
        <p:nvSpPr>
          <p:cNvPr id="1873201190" name="Google Shape;33;p6"/>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cxnSp>
        <p:nvCxnSpPr>
          <p:cNvPr id="719800363" name="Google Shape;35;p7"/>
          <p:cNvCxnSpPr/>
          <p:nvPr/>
        </p:nvCxnSpPr>
        <p:spPr bwMode="auto">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840459364" name="Google Shape;36;p7"/>
          <p:cNvSpPr txBox="1"/>
          <p:nvPr>
            <p:ph type="title"/>
          </p:nvPr>
        </p:nvSpPr>
        <p:spPr bwMode="auto">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172078350" name="Google Shape;37;p7"/>
          <p:cNvSpPr txBox="1"/>
          <p:nvPr>
            <p:ph type="body" idx="1"/>
          </p:nvPr>
        </p:nvSpPr>
        <p:spPr bwMode="auto">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a:defRPr/>
            </a:pPr>
            <a:endParaRPr/>
          </a:p>
        </p:txBody>
      </p:sp>
      <p:sp>
        <p:nvSpPr>
          <p:cNvPr id="1656067336" name="Google Shape;38;p7"/>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904995419" name="Google Shape;40;p8"/>
          <p:cNvSpPr txBox="1"/>
          <p:nvPr>
            <p:ph type="title"/>
          </p:nvPr>
        </p:nvSpPr>
        <p:spPr bwMode="auto">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423024118" name="Google Shape;41;p8"/>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142382174" name="Google Shape;43;p9"/>
          <p:cNvSpPr/>
          <p:nvPr/>
        </p:nvSpPr>
        <p:spPr bwMode="auto">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cxnSp>
        <p:nvCxnSpPr>
          <p:cNvPr id="468302984" name="Google Shape;44;p9"/>
          <p:cNvCxnSpPr/>
          <p:nvPr/>
        </p:nvCxnSpPr>
        <p:spPr bwMode="auto">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1612543304" name="Google Shape;45;p9"/>
          <p:cNvSpPr txBox="1"/>
          <p:nvPr>
            <p:ph type="title"/>
          </p:nvPr>
        </p:nvSpPr>
        <p:spPr bwMode="auto">
          <a:xfrm>
            <a:off x="265500" y="1209075"/>
            <a:ext cx="4045199"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pPr>
              <a:defRPr/>
            </a:pPr>
            <a:endParaRPr/>
          </a:p>
        </p:txBody>
      </p:sp>
      <p:sp>
        <p:nvSpPr>
          <p:cNvPr id="328135024" name="Google Shape;46;p9"/>
          <p:cNvSpPr txBox="1"/>
          <p:nvPr>
            <p:ph type="subTitle" idx="1"/>
          </p:nvPr>
        </p:nvSpPr>
        <p:spPr bwMode="auto">
          <a:xfrm>
            <a:off x="265500" y="2769001"/>
            <a:ext cx="4045199"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pPr>
              <a:defRPr/>
            </a:pPr>
            <a:endParaRPr/>
          </a:p>
        </p:txBody>
      </p:sp>
      <p:sp>
        <p:nvSpPr>
          <p:cNvPr id="126543086" name="Google Shape;47;p9"/>
          <p:cNvSpPr txBox="1"/>
          <p:nvPr>
            <p:ph type="body" idx="2"/>
          </p:nvPr>
        </p:nvSpPr>
        <p:spPr bwMode="auto">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a:defRPr/>
            </a:pPr>
            <a:endParaRPr/>
          </a:p>
        </p:txBody>
      </p:sp>
      <p:sp>
        <p:nvSpPr>
          <p:cNvPr id="2072887791" name="Google Shape;48;p9"/>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506695552" name="Google Shape;50;p10"/>
          <p:cNvSpPr txBox="1"/>
          <p:nvPr>
            <p:ph type="body" idx="1"/>
          </p:nvPr>
        </p:nvSpPr>
        <p:spPr bwMode="auto">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defRPr>
            </a:lvl1pPr>
          </a:lstStyle>
          <a:p>
            <a:pPr>
              <a:defRPr/>
            </a:pPr>
            <a:endParaRPr/>
          </a:p>
        </p:txBody>
      </p:sp>
      <p:sp>
        <p:nvSpPr>
          <p:cNvPr id="1943641391" name="Google Shape;51;p10"/>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652172805" name="Google Shape;53;p11"/>
          <p:cNvSpPr/>
          <p:nvPr/>
        </p:nvSpPr>
        <p:spPr bwMode="auto">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26878345" name="Google Shape;54;p11"/>
          <p:cNvSpPr txBox="1"/>
          <p:nvPr>
            <p:ph type="title" hasCustomPrompt="1"/>
          </p:nvPr>
        </p:nvSpPr>
        <p:spPr bwMode="auto">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pPr>
              <a:defRPr/>
            </a:pPr>
            <a:r>
              <a:rPr/>
              <a:t>xx%</a:t>
            </a:r>
            <a:endParaRPr/>
          </a:p>
        </p:txBody>
      </p:sp>
      <p:sp>
        <p:nvSpPr>
          <p:cNvPr id="1179276258" name="Google Shape;55;p11"/>
          <p:cNvSpPr txBox="1"/>
          <p:nvPr>
            <p:ph type="body" idx="1"/>
          </p:nvPr>
        </p:nvSpPr>
        <p:spPr bwMode="auto">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a:defRPr/>
            </a:pPr>
            <a:endParaRPr/>
          </a:p>
        </p:txBody>
      </p:sp>
      <p:sp>
        <p:nvSpPr>
          <p:cNvPr id="1491399695" name="Google Shape;56;p11"/>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565123424" name="Google Shape;58;p12"/>
          <p:cNvSpPr txBox="1"/>
          <p:nvPr>
            <p:ph type="sldNum" idx="12"/>
          </p:nvPr>
        </p:nvSpPr>
        <p:spPr bwMode="auto">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rina">
    <p:bg>
      <p:bgPr shadeToTitle="0">
        <a:solidFill>
          <a:schemeClr val="lt1"/>
        </a:solidFill>
      </p:bgPr>
    </p:bg>
    <p:spTree>
      <p:nvGrpSpPr>
        <p:cNvPr id="1" name=""/>
        <p:cNvGrpSpPr/>
        <p:nvPr/>
      </p:nvGrpSpPr>
      <p:grpSpPr bwMode="auto">
        <a:xfrm>
          <a:off x="0" y="0"/>
          <a:ext cx="0" cy="0"/>
          <a:chOff x="0" y="0"/>
          <a:chExt cx="0" cy="0"/>
        </a:xfrm>
      </p:grpSpPr>
      <p:sp>
        <p:nvSpPr>
          <p:cNvPr id="748930198" name="Google Shape;6;p1"/>
          <p:cNvSpPr txBox="1"/>
          <p:nvPr>
            <p:ph type="title"/>
          </p:nvPr>
        </p:nvSpPr>
        <p:spPr bwMode="auto">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defRPr>
            </a:lvl9pPr>
          </a:lstStyle>
          <a:p>
            <a:pPr>
              <a:defRPr/>
            </a:pPr>
            <a:endParaRPr/>
          </a:p>
        </p:txBody>
      </p:sp>
      <p:sp>
        <p:nvSpPr>
          <p:cNvPr id="1217118781" name="Google Shape;7;p1"/>
          <p:cNvSpPr txBox="1"/>
          <p:nvPr>
            <p:ph type="body" idx="1"/>
          </p:nvPr>
        </p:nvSpPr>
        <p:spPr bwMode="auto">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4999"/>
              </a:lnSpc>
              <a:spcBef>
                <a:spcPts val="0"/>
              </a:spcBef>
              <a:spcAft>
                <a:spcPts val="0"/>
              </a:spcAft>
              <a:buClr>
                <a:schemeClr val="dk1"/>
              </a:buClr>
              <a:buSzPts val="1800"/>
              <a:buFont typeface="Roboto"/>
              <a:buChar char="●"/>
              <a:defRPr sz="1800">
                <a:solidFill>
                  <a:schemeClr val="dk1"/>
                </a:solidFill>
                <a:latin typeface="Roboto"/>
                <a:ea typeface="Roboto"/>
                <a:cs typeface="Roboto"/>
              </a:defRPr>
            </a:lvl1pPr>
            <a:lvl2pPr marL="914400" lvl="1"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2pPr>
            <a:lvl3pPr marL="1371600" lvl="2"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3pPr>
            <a:lvl4pPr marL="1828800" lvl="3"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4pPr>
            <a:lvl5pPr marL="2286000" lvl="4"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5pPr>
            <a:lvl6pPr marL="2743200" lvl="5"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6pPr>
            <a:lvl7pPr marL="3200400" lvl="6"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7pPr>
            <a:lvl8pPr marL="3657600" lvl="7" indent="-317500">
              <a:lnSpc>
                <a:spcPct val="114999"/>
              </a:lnSpc>
              <a:spcBef>
                <a:spcPts val="1600"/>
              </a:spcBef>
              <a:spcAft>
                <a:spcPts val="0"/>
              </a:spcAft>
              <a:buClr>
                <a:schemeClr val="dk1"/>
              </a:buClr>
              <a:buSzPts val="1400"/>
              <a:buFont typeface="Roboto"/>
              <a:buChar char="○"/>
              <a:defRPr>
                <a:solidFill>
                  <a:schemeClr val="dk1"/>
                </a:solidFill>
                <a:latin typeface="Roboto"/>
                <a:ea typeface="Roboto"/>
                <a:cs typeface="Roboto"/>
              </a:defRPr>
            </a:lvl8pPr>
            <a:lvl9pPr marL="4114800" lvl="8" indent="-317500">
              <a:lnSpc>
                <a:spcPct val="114999"/>
              </a:lnSpc>
              <a:spcBef>
                <a:spcPts val="1600"/>
              </a:spcBef>
              <a:spcAft>
                <a:spcPts val="1600"/>
              </a:spcAft>
              <a:buClr>
                <a:schemeClr val="dk1"/>
              </a:buClr>
              <a:buSzPts val="1400"/>
              <a:buFont typeface="Roboto"/>
              <a:buChar char="■"/>
              <a:defRPr>
                <a:solidFill>
                  <a:schemeClr val="dk1"/>
                </a:solidFill>
                <a:latin typeface="Roboto"/>
                <a:ea typeface="Roboto"/>
                <a:cs typeface="Roboto"/>
              </a:defRPr>
            </a:lvl9pPr>
          </a:lstStyle>
          <a:p>
            <a:pPr>
              <a:defRPr/>
            </a:pPr>
            <a:endParaRPr/>
          </a:p>
        </p:txBody>
      </p:sp>
      <p:sp>
        <p:nvSpPr>
          <p:cNvPr id="1837106601" name="Google Shape;8;p1"/>
          <p:cNvSpPr txBox="1"/>
          <p:nvPr>
            <p:ph type="sldNum" idx="12"/>
          </p:nvPr>
        </p:nvSpPr>
        <p:spPr bwMode="auto">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defRPr>
            </a:lvl1pPr>
            <a:lvl2pPr lvl="1" algn="r">
              <a:buNone/>
              <a:defRPr sz="1000">
                <a:solidFill>
                  <a:schemeClr val="dk1"/>
                </a:solidFill>
                <a:latin typeface="Roboto"/>
                <a:ea typeface="Roboto"/>
                <a:cs typeface="Roboto"/>
              </a:defRPr>
            </a:lvl2pPr>
            <a:lvl3pPr lvl="2" algn="r">
              <a:buNone/>
              <a:defRPr sz="1000">
                <a:solidFill>
                  <a:schemeClr val="dk1"/>
                </a:solidFill>
                <a:latin typeface="Roboto"/>
                <a:ea typeface="Roboto"/>
                <a:cs typeface="Roboto"/>
              </a:defRPr>
            </a:lvl3pPr>
            <a:lvl4pPr lvl="3" algn="r">
              <a:buNone/>
              <a:defRPr sz="1000">
                <a:solidFill>
                  <a:schemeClr val="dk1"/>
                </a:solidFill>
                <a:latin typeface="Roboto"/>
                <a:ea typeface="Roboto"/>
                <a:cs typeface="Roboto"/>
              </a:defRPr>
            </a:lvl4pPr>
            <a:lvl5pPr lvl="4" algn="r">
              <a:buNone/>
              <a:defRPr sz="1000">
                <a:solidFill>
                  <a:schemeClr val="dk1"/>
                </a:solidFill>
                <a:latin typeface="Roboto"/>
                <a:ea typeface="Roboto"/>
                <a:cs typeface="Roboto"/>
              </a:defRPr>
            </a:lvl5pPr>
            <a:lvl6pPr lvl="5" algn="r">
              <a:buNone/>
              <a:defRPr sz="1000">
                <a:solidFill>
                  <a:schemeClr val="dk1"/>
                </a:solidFill>
                <a:latin typeface="Roboto"/>
                <a:ea typeface="Roboto"/>
                <a:cs typeface="Roboto"/>
              </a:defRPr>
            </a:lvl6pPr>
            <a:lvl7pPr lvl="6" algn="r">
              <a:buNone/>
              <a:defRPr sz="1000">
                <a:solidFill>
                  <a:schemeClr val="dk1"/>
                </a:solidFill>
                <a:latin typeface="Roboto"/>
                <a:ea typeface="Roboto"/>
                <a:cs typeface="Roboto"/>
              </a:defRPr>
            </a:lvl7pPr>
            <a:lvl8pPr lvl="7" algn="r">
              <a:buNone/>
              <a:defRPr sz="1000">
                <a:solidFill>
                  <a:schemeClr val="dk1"/>
                </a:solidFill>
                <a:latin typeface="Roboto"/>
                <a:ea typeface="Roboto"/>
                <a:cs typeface="Roboto"/>
              </a:defRPr>
            </a:lvl8pPr>
            <a:lvl9pPr lvl="8" algn="r">
              <a:buNone/>
              <a:defRPr sz="1000">
                <a:solidFill>
                  <a:schemeClr val="dk1"/>
                </a:solidFill>
                <a:latin typeface="Roboto"/>
                <a:ea typeface="Roboto"/>
                <a:cs typeface="Roboto"/>
              </a:defRPr>
            </a:lvl9pPr>
          </a:lstStyle>
          <a:p>
            <a:pPr marL="0" lvl="0" indent="0" algn="r" rtl="0">
              <a:spcBef>
                <a:spcPts val="0"/>
              </a:spcBef>
              <a:spcAft>
                <a:spcPts val="0"/>
              </a:spcAft>
              <a:buNone/>
              <a:defRPr/>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reactjs.org/" TargetMode="External"/><Relationship Id="rId4" Type="http://schemas.openxmlformats.org/officeDocument/2006/relationships/hyperlink" Target="https://en.wikipedia.org/wiki/Single-page_application" TargetMode="Externa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survey.stackoverflow.co/2022/#web-frameworks-and-technologies" TargetMode="External"/><Relationship Id="rId4" Type="http://schemas.openxmlformats.org/officeDocument/2006/relationships/hyperlink" Target="https://ca.indeed.com/jobs?q=react+developer&amp;l=Edmonton%2C+AB" TargetMode="External"/><Relationship Id="rId5" Type="http://schemas.openxmlformats.org/officeDocument/2006/relationships/hyperlink" Target="https://trends.google.com/trends/explore?date=today%205-y&amp;geo=US&amp;q=%2Fm%2F0268gyp,%2Fm%2F012l1vxv,%2Fg%2F11c0vmgx5d,%2Fg%2F11c5t00h04,%2Fm%2F0j45p7w" TargetMode="Externa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nextjs.org/showcase"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reactjs.org/docs/hooks-intro.html#gradual-adoption-strategy"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jsfiddle.net/dgmouris/vt6c5gsL/24/"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babeljs.io/repl/#?browsers=&amp;build=&amp;builtIns=false&amp;spec=false&amp;loose=false&amp;code_lz=MYewdgzgLgBAFgUwDZJAaQJZShhEYC8MAFAJSEB8MA3gFAwwBOCUAro2DADwAmGAbhXoNuAYQCGsYJIIAiALLjGEOIpQgA7rJihUjORrhYEsgPRCRYyTpmyA4uIC2AIyzbdIfbMPGzFkVwSUrZ2cCDQ7iB6BkZQJubCXKZ8ggDctAC-tEA&amp;debug=false&amp;forceAllTransforms=false&amp;shippedProposals=false&amp;circleciRepo=&amp;evaluate=false&amp;fileSize=false&amp;timeTravel=false&amp;sourceType=module&amp;lineWrap=true&amp;presets=react&amp;prettier=false&amp;targets=&amp;version=7.8.7&amp;externalPlugins="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jsfiddle.net/dgmouris/9625cmta/7/" TargetMode="External"/><Relationship Id="rId4" Type="http://schemas.openxmlformats.org/officeDocument/2006/relationships/hyperlink" Target="https://jsfiddle.net/dgmouris/9625cmta/19/" TargetMode="Externa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jsfiddle.net/dgmouris/rubjdt6k/6/" TargetMode="External"/><Relationship Id="rId4" Type="http://schemas.openxmlformats.org/officeDocument/2006/relationships/hyperlink" Target="https://jsfiddle.net/dgmouris/rubjdt6k/14/" TargetMode="Externa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nextjs.org/" TargetMode="External"/><Relationship Id="rId4" Type="http://schemas.openxmlformats.org/officeDocument/2006/relationships/hyperlink" Target="https://en.wikipedia.org/wiki/Single-page_application" TargetMode="External"/><Relationship Id="rId5" Type="http://schemas.openxmlformats.org/officeDocument/2006/relationships/hyperlink" Target="https://reactjs.org/" TargetMode="External"/><Relationship Id="rId6" Type="http://schemas.openxmlformats.org/officeDocument/2006/relationships/hyperlink" Target="https://reactjs.org/docs/hooks-faq.html" TargetMode="External"/><Relationship Id="rId7" Type="http://schemas.openxmlformats.org/officeDocument/2006/relationships/hyperlink" Target="https://reactjs.org/docs/hooks-intro.html#gradual-adoption-strategy"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2900408" name="Google Shape;63;p13"/>
          <p:cNvSpPr txBox="1"/>
          <p:nvPr>
            <p:ph type="ctrTitle"/>
          </p:nvPr>
        </p:nvSpPr>
        <p:spPr bwMode="auto">
          <a:xfrm>
            <a:off x="1680301"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React and Next.js</a:t>
            </a:r>
            <a:endParaRPr/>
          </a:p>
        </p:txBody>
      </p:sp>
      <p:sp>
        <p:nvSpPr>
          <p:cNvPr id="752597454" name="Google Shape;64;p13"/>
          <p:cNvSpPr txBox="1"/>
          <p:nvPr>
            <p:ph type="subTitle" idx="1"/>
          </p:nvPr>
        </p:nvSpPr>
        <p:spPr bwMode="auto">
          <a:xfrm>
            <a:off x="1680301"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defRPr/>
            </a:pPr>
            <a:r>
              <a:rPr lang="en"/>
              <a:t>Javascript DMIT 2008</a:t>
            </a:r>
            <a:endParaRPr/>
          </a:p>
          <a:p>
            <a:pPr marL="0" lvl="0" indent="0" algn="ctr"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040824" name="Google Shape;69;p14"/>
          <p:cNvSpPr txBox="1"/>
          <p:nvPr>
            <p:ph type="title"/>
          </p:nvPr>
        </p:nvSpPr>
        <p:spPr bwMode="auto">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Announcements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3376726" name="Google Shape;74;p15"/>
          <p:cNvSpPr txBox="1"/>
          <p:nvPr>
            <p:ph type="title"/>
          </p:nvPr>
        </p:nvSpPr>
        <p:spPr bwMode="auto">
          <a:xfrm>
            <a:off x="248400" y="1440025"/>
            <a:ext cx="4045199"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Where are we?</a:t>
            </a:r>
            <a:endParaRPr/>
          </a:p>
        </p:txBody>
      </p:sp>
      <p:sp>
        <p:nvSpPr>
          <p:cNvPr id="1486349575" name="Google Shape;75;p15"/>
          <p:cNvSpPr txBox="1"/>
          <p:nvPr>
            <p:ph type="body" idx="2"/>
          </p:nvPr>
        </p:nvSpPr>
        <p:spPr bwMode="auto">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defRPr/>
            </a:pPr>
            <a:r>
              <a:rPr lang="en" sz="1600"/>
              <a:t>Expectations</a:t>
            </a:r>
            <a:endParaRPr sz="1600"/>
          </a:p>
          <a:p>
            <a:pPr marL="457200" lvl="0" indent="-330200" algn="l" rtl="0">
              <a:spcBef>
                <a:spcPts val="0"/>
              </a:spcBef>
              <a:spcAft>
                <a:spcPts val="0"/>
              </a:spcAft>
              <a:buSzPts val="1600"/>
              <a:buAutoNum type="arabicPeriod"/>
              <a:defRPr/>
            </a:pPr>
            <a:r>
              <a:rPr lang="en" sz="1600"/>
              <a:t>What is React</a:t>
            </a:r>
            <a:endParaRPr sz="1600"/>
          </a:p>
          <a:p>
            <a:pPr marL="457200" lvl="0" indent="-330200" algn="l" rtl="0">
              <a:spcBef>
                <a:spcPts val="0"/>
              </a:spcBef>
              <a:spcAft>
                <a:spcPts val="0"/>
              </a:spcAft>
              <a:buSzPts val="1600"/>
              <a:buAutoNum type="arabicPeriod"/>
              <a:defRPr/>
            </a:pPr>
            <a:r>
              <a:rPr lang="en" sz="1600"/>
              <a:t>Why use React</a:t>
            </a:r>
            <a:endParaRPr sz="1600"/>
          </a:p>
          <a:p>
            <a:pPr marL="457200" lvl="0" indent="-330200" algn="l" rtl="0">
              <a:spcBef>
                <a:spcPts val="0"/>
              </a:spcBef>
              <a:spcAft>
                <a:spcPts val="0"/>
              </a:spcAft>
              <a:buSzPts val="1600"/>
              <a:buAutoNum type="arabicPeriod"/>
              <a:defRPr/>
            </a:pPr>
            <a:r>
              <a:rPr lang="en" sz="1600"/>
              <a:t>What is Next.js</a:t>
            </a:r>
            <a:endParaRPr sz="1600"/>
          </a:p>
          <a:p>
            <a:pPr marL="457200" lvl="0" indent="-330200" algn="l" rtl="0">
              <a:spcBef>
                <a:spcPts val="0"/>
              </a:spcBef>
              <a:spcAft>
                <a:spcPts val="0"/>
              </a:spcAft>
              <a:buSzPts val="1600"/>
              <a:buAutoNum type="arabicPeriod"/>
              <a:defRPr/>
            </a:pPr>
            <a:r>
              <a:rPr lang="en" sz="1600"/>
              <a:t>Okay Who uses react and Next.js</a:t>
            </a:r>
            <a:endParaRPr sz="1600"/>
          </a:p>
          <a:p>
            <a:pPr marL="457200" lvl="0" indent="-330200" algn="l" rtl="0">
              <a:spcBef>
                <a:spcPts val="0"/>
              </a:spcBef>
              <a:spcAft>
                <a:spcPts val="0"/>
              </a:spcAft>
              <a:buSzPts val="1600"/>
              <a:buAutoNum type="arabicPeriod"/>
              <a:defRPr/>
            </a:pPr>
            <a:r>
              <a:rPr lang="en" sz="1600"/>
              <a:t>React Components</a:t>
            </a:r>
            <a:endParaRPr sz="1600"/>
          </a:p>
          <a:p>
            <a:pPr marL="457200" lvl="0" indent="-330200" algn="l" rtl="0">
              <a:spcBef>
                <a:spcPts val="0"/>
              </a:spcBef>
              <a:spcAft>
                <a:spcPts val="0"/>
              </a:spcAft>
              <a:buSzPts val="1600"/>
              <a:buAutoNum type="arabicPeriod"/>
              <a:defRPr/>
            </a:pPr>
            <a:r>
              <a:rPr lang="en" sz="1600"/>
              <a:t>What does it look like?</a:t>
            </a:r>
            <a:endParaRPr sz="1600"/>
          </a:p>
          <a:p>
            <a:pPr marL="457200" lvl="0" indent="-330200" algn="l" rtl="0">
              <a:spcBef>
                <a:spcPts val="0"/>
              </a:spcBef>
              <a:spcAft>
                <a:spcPts val="0"/>
              </a:spcAft>
              <a:buSzPts val="1600"/>
              <a:buAutoNum type="arabicPeriod"/>
              <a:defRPr/>
            </a:pPr>
            <a:r>
              <a:rPr lang="en" sz="1600"/>
              <a:t>A small intro to JSX</a:t>
            </a:r>
            <a:endParaRPr sz="1600"/>
          </a:p>
          <a:p>
            <a:pPr marL="457200" lvl="0" indent="-330200" algn="l" rtl="0">
              <a:spcBef>
                <a:spcPts val="0"/>
              </a:spcBef>
              <a:spcAft>
                <a:spcPts val="0"/>
              </a:spcAft>
              <a:buSzPts val="1600"/>
              <a:buAutoNum type="arabicPeriod"/>
              <a:defRPr/>
            </a:pPr>
            <a:r>
              <a:rPr lang="en" sz="1600"/>
              <a:t>A Class Based Component with JSX</a:t>
            </a:r>
            <a:endParaRPr sz="1600"/>
          </a:p>
          <a:p>
            <a:pPr marL="457200" lvl="0" indent="-330200" algn="l" rtl="0">
              <a:spcBef>
                <a:spcPts val="0"/>
              </a:spcBef>
              <a:spcAft>
                <a:spcPts val="0"/>
              </a:spcAft>
              <a:buSzPts val="1600"/>
              <a:buAutoNum type="arabicPeriod"/>
              <a:defRPr/>
            </a:pPr>
            <a:r>
              <a:rPr lang="en" sz="1600"/>
              <a:t>A Function Based Component (Hook) </a:t>
            </a:r>
            <a:endParaRPr sz="1600"/>
          </a:p>
          <a:p>
            <a:pPr marL="457200" lvl="0" indent="-330200" algn="l" rtl="0">
              <a:spcBef>
                <a:spcPts val="0"/>
              </a:spcBef>
              <a:spcAft>
                <a:spcPts val="0"/>
              </a:spcAft>
              <a:buSzPts val="1600"/>
              <a:buAutoNum type="arabicPeriod"/>
              <a:defRPr/>
            </a:pPr>
            <a:r>
              <a:rPr lang="en" sz="1600"/>
              <a:t>Let’s Install and Explore Next.js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5150879" name="Google Shape;80;p16"/>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Expectations - What I expect from you</a:t>
            </a:r>
            <a:endParaRPr/>
          </a:p>
        </p:txBody>
      </p:sp>
      <p:sp>
        <p:nvSpPr>
          <p:cNvPr id="1852215226" name="Google Shape;81;p16"/>
          <p:cNvSpPr txBox="1"/>
          <p:nvPr>
            <p:ph type="body" idx="1"/>
          </p:nvPr>
        </p:nvSpPr>
        <p:spPr bwMode="auto">
          <a:xfrm>
            <a:off x="387900" y="1489824"/>
            <a:ext cx="8368200" cy="3078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defRPr/>
            </a:pPr>
            <a:r>
              <a:rPr lang="en"/>
              <a:t>No Late Assignments</a:t>
            </a:r>
            <a:endParaRPr/>
          </a:p>
          <a:p>
            <a:pPr marL="457200" lvl="0" indent="-342900" algn="l" rtl="0">
              <a:spcBef>
                <a:spcPts val="0"/>
              </a:spcBef>
              <a:spcAft>
                <a:spcPts val="0"/>
              </a:spcAft>
              <a:buSzPts val="1800"/>
              <a:buAutoNum type="arabicPeriod"/>
              <a:defRPr/>
            </a:pPr>
            <a:r>
              <a:rPr lang="en"/>
              <a:t>No Cheating</a:t>
            </a:r>
            <a:endParaRPr/>
          </a:p>
          <a:p>
            <a:pPr marL="457200" lvl="0" indent="-342900" algn="l" rtl="0">
              <a:spcBef>
                <a:spcPts val="0"/>
              </a:spcBef>
              <a:spcAft>
                <a:spcPts val="0"/>
              </a:spcAft>
              <a:buSzPts val="1800"/>
              <a:buAutoNum type="arabicPeriod"/>
              <a:defRPr/>
            </a:pPr>
            <a:r>
              <a:rPr lang="en"/>
              <a:t>Be a good classmate</a:t>
            </a:r>
            <a:endParaRPr/>
          </a:p>
          <a:p>
            <a:pPr marL="457200" lvl="0" indent="-342900" algn="l" rtl="0">
              <a:spcBef>
                <a:spcPts val="0"/>
              </a:spcBef>
              <a:spcAft>
                <a:spcPts val="0"/>
              </a:spcAft>
              <a:buSzPts val="1800"/>
              <a:buAutoNum type="arabicPeriod"/>
              <a:defRPr/>
            </a:pPr>
            <a:r>
              <a:rPr lang="en"/>
              <a:t>Don’t go to stupid sites in class </a:t>
            </a:r>
            <a:endParaRPr/>
          </a:p>
          <a:p>
            <a:pPr marL="457200" lvl="0" indent="-342900" algn="l" rtl="0">
              <a:spcBef>
                <a:spcPts val="0"/>
              </a:spcBef>
              <a:spcAft>
                <a:spcPts val="0"/>
              </a:spcAft>
              <a:buSzPts val="1800"/>
              <a:buAutoNum type="arabicPeriod"/>
              <a:defRPr/>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6006966" name="Google Shape;86;p17"/>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What is React?</a:t>
            </a:r>
            <a:endParaRPr/>
          </a:p>
        </p:txBody>
      </p:sp>
      <p:sp>
        <p:nvSpPr>
          <p:cNvPr id="2039037548" name="Google Shape;87;p17"/>
          <p:cNvSpPr txBox="1"/>
          <p:nvPr>
            <p:ph type="body" idx="1"/>
          </p:nvPr>
        </p:nvSpPr>
        <p:spPr bwMode="auto">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600"/>
              <a:t>From the </a:t>
            </a:r>
            <a:r>
              <a:rPr lang="en" sz="1600" u="sng">
                <a:solidFill>
                  <a:schemeClr val="hlink"/>
                </a:solidFill>
                <a:hlinkClick r:id="rId3" tooltip=""/>
              </a:rPr>
              <a:t>React site</a:t>
            </a:r>
            <a:r>
              <a:rPr lang="en" sz="1600" u="sng">
                <a:solidFill>
                  <a:schemeClr val="hlink"/>
                </a:solidFill>
                <a:hlinkClick r:id="rId3" tooltip=""/>
              </a:rPr>
              <a:t>:</a:t>
            </a:r>
            <a:r>
              <a:rPr lang="en" sz="1600"/>
              <a:t> "A JavaScript library for building user interfaces".</a:t>
            </a:r>
            <a:endParaRPr sz="1600"/>
          </a:p>
          <a:p>
            <a:pPr marL="0" lvl="0" indent="0" algn="l" rtl="0">
              <a:spcBef>
                <a:spcPts val="1600"/>
              </a:spcBef>
              <a:spcAft>
                <a:spcPts val="0"/>
              </a:spcAft>
              <a:buNone/>
              <a:defRPr/>
            </a:pPr>
            <a:r>
              <a:rPr lang="en-US" sz="1600"/>
              <a:t>We’ll be using it to make</a:t>
            </a:r>
            <a:r>
              <a:rPr lang="en" sz="1600"/>
              <a:t> </a:t>
            </a:r>
            <a:r>
              <a:rPr lang="en" sz="1600" u="sng">
                <a:solidFill>
                  <a:schemeClr val="hlink"/>
                </a:solidFill>
                <a:hlinkClick r:id="rId4" tooltip=""/>
              </a:rPr>
              <a:t>Single Page Applicatio</a:t>
            </a:r>
            <a:r>
              <a:rPr lang="en" sz="1600" u="sng">
                <a:solidFill>
                  <a:schemeClr val="hlink"/>
                </a:solidFill>
                <a:hlinkClick r:id="rId4" tooltip=""/>
              </a:rPr>
              <a:t>ns</a:t>
            </a:r>
            <a:r>
              <a:rPr lang="en-US" sz="1600"/>
              <a:t>; </a:t>
            </a:r>
            <a:r>
              <a:rPr lang="en" sz="1600"/>
              <a:t>we </a:t>
            </a:r>
            <a:r>
              <a:rPr lang="en-US" sz="1600"/>
              <a:t>w</a:t>
            </a:r>
            <a:r>
              <a:rPr lang="en" sz="1600"/>
              <a:t>on't have to </a:t>
            </a:r>
            <a:r>
              <a:rPr lang="en-US" sz="1600"/>
              <a:t>reload to </a:t>
            </a:r>
            <a:r>
              <a:rPr lang="en" sz="1600"/>
              <a:t>a new page every time we navigate on our site</a:t>
            </a:r>
            <a:r>
              <a:rPr lang="en-US" sz="1600"/>
              <a:t> or change </a:t>
            </a:r>
            <a:r>
              <a:rPr lang="en" sz="1600"/>
              <a:t>data.</a:t>
            </a:r>
            <a:endParaRPr sz="1600"/>
          </a:p>
          <a:p>
            <a:pPr marL="0" lvl="0" indent="0" algn="l" rtl="0">
              <a:spcBef>
                <a:spcPts val="1600"/>
              </a:spcBef>
              <a:spcAft>
                <a:spcPts val="0"/>
              </a:spcAft>
              <a:buNone/>
              <a:defRPr/>
            </a:pPr>
            <a:r>
              <a:rPr lang="en" sz="1600"/>
              <a:t>React lets you build really complicated User Interfaces (UIs) by breaking parts of your page into</a:t>
            </a:r>
            <a:r>
              <a:rPr lang="en-US" sz="1600"/>
              <a:t>... components!</a:t>
            </a:r>
            <a:endParaRPr sz="1600"/>
          </a:p>
          <a:p>
            <a:pPr marL="0" lvl="0" indent="0" algn="l" rtl="0">
              <a:spcBef>
                <a:spcPts val="1600"/>
              </a:spcBef>
              <a:spcAft>
                <a:spcPts val="0"/>
              </a:spcAft>
              <a:buNone/>
              <a:defRPr/>
            </a:pPr>
            <a:r>
              <a:rPr lang="en" sz="1600"/>
              <a:t>React uses</a:t>
            </a:r>
            <a:r>
              <a:rPr lang="en-US" sz="1600"/>
              <a:t> a templating language called</a:t>
            </a:r>
            <a:r>
              <a:rPr lang="en" sz="1600"/>
              <a:t> JSX</a:t>
            </a:r>
            <a:r>
              <a:rPr lang="en-US" sz="1600"/>
              <a:t>, which is similar to HTML.</a:t>
            </a:r>
            <a:endParaRPr sz="1600"/>
          </a:p>
          <a:p>
            <a:pPr marL="0" lvl="0" indent="0" algn="l" rtl="0">
              <a:spcBef>
                <a:spcPts val="1600"/>
              </a:spcBef>
              <a:spcAft>
                <a:spcPts val="1600"/>
              </a:spcAft>
              <a:buNone/>
              <a:defRPr/>
            </a:pP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5040253" name="Google Shape;99;p19"/>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Why use React? Some Resources to look at.</a:t>
            </a:r>
            <a:endParaRPr/>
          </a:p>
        </p:txBody>
      </p:sp>
      <p:sp>
        <p:nvSpPr>
          <p:cNvPr id="444865687" name="Google Shape;100;p19"/>
          <p:cNvSpPr txBox="1"/>
          <p:nvPr>
            <p:ph type="body" idx="1"/>
          </p:nvPr>
        </p:nvSpPr>
        <p:spPr bwMode="auto">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t>Popularity</a:t>
            </a:r>
            <a:endParaRPr sz="1200"/>
          </a:p>
          <a:p>
            <a:pPr marL="457200" lvl="0" indent="-304800" algn="l" rtl="0">
              <a:spcBef>
                <a:spcPts val="1600"/>
              </a:spcBef>
              <a:spcAft>
                <a:spcPts val="0"/>
              </a:spcAft>
              <a:buSzPts val="1200"/>
              <a:buChar char="●"/>
              <a:defRPr/>
            </a:pPr>
            <a:r>
              <a:rPr lang="en" sz="1200" u="sng">
                <a:solidFill>
                  <a:schemeClr val="hlink"/>
                </a:solidFill>
                <a:hlinkClick r:id="rId3" tooltip=""/>
              </a:rPr>
              <a:t>Stack overflow developer survey</a:t>
            </a:r>
            <a:endParaRPr sz="1200"/>
          </a:p>
          <a:p>
            <a:pPr marL="0" lvl="0" indent="0" algn="l" rtl="0">
              <a:spcBef>
                <a:spcPts val="1600"/>
              </a:spcBef>
              <a:spcAft>
                <a:spcPts val="0"/>
              </a:spcAft>
              <a:buNone/>
              <a:defRPr/>
            </a:pPr>
            <a:r>
              <a:rPr lang="en" sz="1200"/>
              <a:t>Jobs</a:t>
            </a:r>
            <a:endParaRPr sz="1200"/>
          </a:p>
          <a:p>
            <a:pPr marL="457200" lvl="0" indent="-304800" algn="l" rtl="0">
              <a:spcBef>
                <a:spcPts val="1600"/>
              </a:spcBef>
              <a:spcAft>
                <a:spcPts val="0"/>
              </a:spcAft>
              <a:buSzPts val="1200"/>
              <a:buChar char="●"/>
              <a:defRPr/>
            </a:pPr>
            <a:r>
              <a:rPr lang="en" sz="1200" u="sng">
                <a:solidFill>
                  <a:schemeClr val="hlink"/>
                </a:solidFill>
                <a:hlinkClick r:id="rId4" tooltip=""/>
              </a:rPr>
              <a:t>https://ca.indeed.com/jobs?q=react+developer&amp;l=Edmonton%2C+AB</a:t>
            </a:r>
            <a:endParaRPr sz="1200"/>
          </a:p>
          <a:p>
            <a:pPr marL="0" lvl="0" indent="0" algn="l" rtl="0">
              <a:spcBef>
                <a:spcPts val="1600"/>
              </a:spcBef>
              <a:spcAft>
                <a:spcPts val="0"/>
              </a:spcAft>
              <a:buNone/>
              <a:defRPr/>
            </a:pPr>
            <a:r>
              <a:rPr lang="en" sz="1200"/>
              <a:t>Trends (Jquery going down React going up in the last 5 years).</a:t>
            </a:r>
            <a:endParaRPr sz="1200"/>
          </a:p>
          <a:p>
            <a:pPr marL="457200" lvl="0" indent="-304800" algn="l" rtl="0">
              <a:spcBef>
                <a:spcPts val="1600"/>
              </a:spcBef>
              <a:spcAft>
                <a:spcPts val="0"/>
              </a:spcAft>
              <a:buSzPts val="1200"/>
              <a:buChar char="●"/>
              <a:defRPr/>
            </a:pPr>
            <a:r>
              <a:rPr lang="en" sz="1200" u="sng">
                <a:solidFill>
                  <a:schemeClr val="hlink"/>
                </a:solidFill>
                <a:hlinkClick r:id="rId5" tooltip=""/>
              </a:rPr>
              <a:t>https://trends.google.com/trends/explore?date=today%205-y&amp;geo=US&amp;q=%2Fm%2F0268gyp,%2Fm%2F012l1vxv,%2Fg%2F11c0vmgx5d,%2Fg%2F11c5t00h04,%2Fm%2F0j45p7w</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5733658" name="Google Shape;105;p20"/>
          <p:cNvSpPr txBox="1"/>
          <p:nvPr>
            <p:ph type="title"/>
          </p:nvPr>
        </p:nvSpPr>
        <p:spPr bwMode="auto">
          <a:xfrm>
            <a:off x="248400" y="1440025"/>
            <a:ext cx="4045199"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Where are we?</a:t>
            </a:r>
            <a:endParaRPr/>
          </a:p>
        </p:txBody>
      </p:sp>
      <p:sp>
        <p:nvSpPr>
          <p:cNvPr id="1067330357" name="Google Shape;106;p20"/>
          <p:cNvSpPr txBox="1"/>
          <p:nvPr>
            <p:ph type="body" idx="2"/>
          </p:nvPr>
        </p:nvSpPr>
        <p:spPr bwMode="auto">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defRPr/>
            </a:pPr>
            <a:r>
              <a:rPr lang="en" sz="1600"/>
              <a:t>Expectations</a:t>
            </a:r>
            <a:endParaRPr sz="1600"/>
          </a:p>
          <a:p>
            <a:pPr marL="457200" lvl="0" indent="-330200" algn="l" rtl="0">
              <a:spcBef>
                <a:spcPts val="0"/>
              </a:spcBef>
              <a:spcAft>
                <a:spcPts val="0"/>
              </a:spcAft>
              <a:buSzPts val="1600"/>
              <a:buAutoNum type="arabicPeriod"/>
              <a:defRPr/>
            </a:pPr>
            <a:r>
              <a:rPr lang="en" sz="1600"/>
              <a:t>What is React</a:t>
            </a:r>
            <a:endParaRPr sz="1600"/>
          </a:p>
          <a:p>
            <a:pPr marL="457200" lvl="0" indent="-330200" algn="l" rtl="0">
              <a:spcBef>
                <a:spcPts val="0"/>
              </a:spcBef>
              <a:spcAft>
                <a:spcPts val="0"/>
              </a:spcAft>
              <a:buSzPts val="1600"/>
              <a:buAutoNum type="arabicPeriod"/>
              <a:defRPr/>
            </a:pPr>
            <a:r>
              <a:rPr lang="en" sz="1600"/>
              <a:t>Why use React</a:t>
            </a:r>
            <a:endParaRPr sz="1600"/>
          </a:p>
          <a:p>
            <a:pPr marL="457200" lvl="0" indent="-330200" algn="l" rtl="0">
              <a:spcBef>
                <a:spcPts val="0"/>
              </a:spcBef>
              <a:spcAft>
                <a:spcPts val="0"/>
              </a:spcAft>
              <a:buSzPts val="1600"/>
              <a:buAutoNum type="arabicPeriod"/>
              <a:defRPr/>
            </a:pPr>
            <a:r>
              <a:rPr lang="en" sz="1600"/>
              <a:t>What is Next.js</a:t>
            </a:r>
            <a:endParaRPr sz="1600"/>
          </a:p>
          <a:p>
            <a:pPr marL="457200" lvl="0" indent="-330200" algn="l" rtl="0">
              <a:spcBef>
                <a:spcPts val="0"/>
              </a:spcBef>
              <a:spcAft>
                <a:spcPts val="0"/>
              </a:spcAft>
              <a:buSzPts val="1600"/>
              <a:buAutoNum type="arabicPeriod"/>
              <a:defRPr/>
            </a:pPr>
            <a:r>
              <a:rPr lang="en" sz="1600"/>
              <a:t>Okay Who uses react and Next.js</a:t>
            </a:r>
            <a:endParaRPr sz="1600"/>
          </a:p>
          <a:p>
            <a:pPr marL="457200" lvl="0" indent="-330200" algn="l" rtl="0">
              <a:spcBef>
                <a:spcPts val="0"/>
              </a:spcBef>
              <a:spcAft>
                <a:spcPts val="0"/>
              </a:spcAft>
              <a:buSzPts val="1600"/>
              <a:buAutoNum type="arabicPeriod"/>
              <a:defRPr/>
            </a:pPr>
            <a:r>
              <a:rPr lang="en" sz="1600"/>
              <a:t>React Components</a:t>
            </a:r>
            <a:endParaRPr sz="1600"/>
          </a:p>
          <a:p>
            <a:pPr marL="457200" lvl="0" indent="-330200" algn="l" rtl="0">
              <a:spcBef>
                <a:spcPts val="0"/>
              </a:spcBef>
              <a:spcAft>
                <a:spcPts val="0"/>
              </a:spcAft>
              <a:buSzPts val="1600"/>
              <a:buAutoNum type="arabicPeriod"/>
              <a:defRPr/>
            </a:pPr>
            <a:r>
              <a:rPr lang="en" sz="1600"/>
              <a:t>What does it look like?</a:t>
            </a:r>
            <a:endParaRPr sz="1600"/>
          </a:p>
          <a:p>
            <a:pPr marL="457200" lvl="0" indent="-330200" algn="l" rtl="0">
              <a:spcBef>
                <a:spcPts val="0"/>
              </a:spcBef>
              <a:spcAft>
                <a:spcPts val="0"/>
              </a:spcAft>
              <a:buSzPts val="1600"/>
              <a:buAutoNum type="arabicPeriod"/>
              <a:defRPr/>
            </a:pPr>
            <a:r>
              <a:rPr lang="en" sz="1600"/>
              <a:t>A small intro to JSX</a:t>
            </a:r>
            <a:endParaRPr sz="1600"/>
          </a:p>
          <a:p>
            <a:pPr marL="457200" lvl="0" indent="-330200" algn="l" rtl="0">
              <a:spcBef>
                <a:spcPts val="0"/>
              </a:spcBef>
              <a:spcAft>
                <a:spcPts val="0"/>
              </a:spcAft>
              <a:buSzPts val="1600"/>
              <a:buAutoNum type="arabicPeriod"/>
              <a:defRPr/>
            </a:pPr>
            <a:r>
              <a:rPr lang="en" sz="1600"/>
              <a:t>A Class Based Component with JSX</a:t>
            </a:r>
            <a:endParaRPr sz="1600"/>
          </a:p>
          <a:p>
            <a:pPr marL="457200" lvl="0" indent="-330200" algn="l" rtl="0">
              <a:spcBef>
                <a:spcPts val="0"/>
              </a:spcBef>
              <a:spcAft>
                <a:spcPts val="0"/>
              </a:spcAft>
              <a:buSzPts val="1600"/>
              <a:buAutoNum type="arabicPeriod"/>
              <a:defRPr/>
            </a:pPr>
            <a:r>
              <a:rPr lang="en" sz="1600"/>
              <a:t>A Function Based Component (Hook) </a:t>
            </a:r>
            <a:endParaRPr sz="1600"/>
          </a:p>
          <a:p>
            <a:pPr marL="457200" lvl="0" indent="-330200" algn="l" rtl="0">
              <a:spcBef>
                <a:spcPts val="0"/>
              </a:spcBef>
              <a:spcAft>
                <a:spcPts val="0"/>
              </a:spcAft>
              <a:buSzPts val="1600"/>
              <a:buAutoNum type="arabicPeriod"/>
              <a:defRPr/>
            </a:pPr>
            <a:r>
              <a:rPr lang="en" sz="1600"/>
              <a:t>Let’s Install and Explore Next.js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7518668" name="Google Shape;111;p21"/>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Okay so React is good</a:t>
            </a:r>
            <a:r>
              <a:rPr lang="en-US"/>
              <a:t>;</a:t>
            </a:r>
            <a:r>
              <a:rPr lang="en"/>
              <a:t> what</a:t>
            </a:r>
            <a:r>
              <a:rPr lang="en-US"/>
              <a:t>’s</a:t>
            </a:r>
            <a:r>
              <a:rPr lang="en"/>
              <a:t> Next.js?</a:t>
            </a:r>
            <a:endParaRPr/>
          </a:p>
        </p:txBody>
      </p:sp>
      <p:sp>
        <p:nvSpPr>
          <p:cNvPr id="54056489" name="Google Shape;112;p21"/>
          <p:cNvSpPr txBox="1"/>
          <p:nvPr>
            <p:ph type="body" idx="1"/>
          </p:nvPr>
        </p:nvSpPr>
        <p:spPr bwMode="auto">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t>Next.js is a framework that uses React.js at its’ core, but adds a lot of features that are great for development and rendering speed of the application. We’re going to discuss many of added benefits in detail throughout the course, so if it doesn’t make sense right now don’t worry.</a:t>
            </a:r>
            <a:endParaRPr sz="1200"/>
          </a:p>
          <a:p>
            <a:pPr marL="0" lvl="0" indent="0" algn="l" rtl="0">
              <a:spcBef>
                <a:spcPts val="1600"/>
              </a:spcBef>
              <a:spcAft>
                <a:spcPts val="0"/>
              </a:spcAft>
              <a:buNone/>
              <a:defRPr/>
            </a:pPr>
            <a:r>
              <a:rPr lang="en" sz="1200"/>
              <a:t>Added Benefits:</a:t>
            </a:r>
            <a:endParaRPr sz="1200"/>
          </a:p>
          <a:p>
            <a:pPr marL="457200" lvl="0" indent="-304800" algn="l" rtl="0">
              <a:spcBef>
                <a:spcPts val="1600"/>
              </a:spcBef>
              <a:spcAft>
                <a:spcPts val="0"/>
              </a:spcAft>
              <a:buSzPts val="1200"/>
              <a:buChar char="●"/>
              <a:defRPr/>
            </a:pPr>
            <a:r>
              <a:rPr lang="en" sz="1200"/>
              <a:t>Server Side Rendering and other Rendering techniques (Such as Pre-rendering/Static Site Generation and Deferred Rendering/Incremental Static Regeneration)</a:t>
            </a:r>
            <a:endParaRPr sz="1200"/>
          </a:p>
          <a:p>
            <a:pPr marL="914400" lvl="1" indent="-304800" algn="l" rtl="0">
              <a:spcBef>
                <a:spcPts val="0"/>
              </a:spcBef>
              <a:spcAft>
                <a:spcPts val="0"/>
              </a:spcAft>
              <a:buSzPts val="1200"/>
              <a:buChar char="○"/>
              <a:defRPr/>
            </a:pPr>
            <a:r>
              <a:rPr lang="en" sz="1200"/>
              <a:t>Gives you the ability to speed up your site</a:t>
            </a:r>
            <a:endParaRPr sz="1200"/>
          </a:p>
          <a:p>
            <a:pPr marL="914400" lvl="1" indent="-304800" algn="l" rtl="0">
              <a:spcBef>
                <a:spcPts val="0"/>
              </a:spcBef>
              <a:spcAft>
                <a:spcPts val="0"/>
              </a:spcAft>
              <a:buSzPts val="1200"/>
              <a:buChar char="○"/>
              <a:defRPr/>
            </a:pPr>
            <a:r>
              <a:rPr lang="en" sz="1200"/>
              <a:t>Gives you out of the box indexable website which is great for SEO</a:t>
            </a:r>
            <a:endParaRPr sz="1200"/>
          </a:p>
          <a:p>
            <a:pPr marL="457200" lvl="0" indent="-304800" algn="l" rtl="0">
              <a:spcBef>
                <a:spcPts val="0"/>
              </a:spcBef>
              <a:spcAft>
                <a:spcPts val="0"/>
              </a:spcAft>
              <a:buSzPts val="1200"/>
              <a:buChar char="●"/>
              <a:defRPr/>
            </a:pPr>
            <a:r>
              <a:rPr lang="en" sz="1200"/>
              <a:t>Automatic Code Splitting</a:t>
            </a:r>
            <a:endParaRPr sz="1200"/>
          </a:p>
          <a:p>
            <a:pPr marL="914400" lvl="1" indent="-304800" algn="l" rtl="0">
              <a:spcBef>
                <a:spcPts val="0"/>
              </a:spcBef>
              <a:spcAft>
                <a:spcPts val="0"/>
              </a:spcAft>
              <a:buSzPts val="1200"/>
              <a:buChar char="○"/>
              <a:defRPr/>
            </a:pPr>
            <a:r>
              <a:rPr lang="en" sz="1200"/>
              <a:t>Next.js is smart enough to split JS and CSS </a:t>
            </a:r>
            <a:endParaRPr sz="1200"/>
          </a:p>
          <a:p>
            <a:pPr marL="457200" lvl="0" indent="-304800" algn="l" rtl="0">
              <a:spcBef>
                <a:spcPts val="0"/>
              </a:spcBef>
              <a:spcAft>
                <a:spcPts val="0"/>
              </a:spcAft>
              <a:buSzPts val="1200"/>
              <a:buChar char="●"/>
              <a:defRPr/>
            </a:pPr>
            <a:r>
              <a:rPr lang="en" sz="1200"/>
              <a:t>Hot Module Replacement (more for devs)</a:t>
            </a:r>
            <a:endParaRPr sz="1200"/>
          </a:p>
          <a:p>
            <a:pPr marL="914400" lvl="1" indent="-304800" algn="l" rtl="0">
              <a:spcBef>
                <a:spcPts val="0"/>
              </a:spcBef>
              <a:spcAft>
                <a:spcPts val="0"/>
              </a:spcAft>
              <a:buSzPts val="1200"/>
              <a:buChar char="○"/>
              <a:defRPr/>
            </a:pPr>
            <a:r>
              <a:rPr lang="en" sz="1200"/>
              <a:t>This gives an </a:t>
            </a:r>
            <a:r>
              <a:rPr lang="en" sz="1200"/>
              <a:t>environment</a:t>
            </a:r>
            <a:r>
              <a:rPr lang="en" sz="1200"/>
              <a:t> for devs that when you make a change in your code it is immediately reflected on your environment</a:t>
            </a:r>
            <a:endParaRPr sz="1200"/>
          </a:p>
          <a:p>
            <a:pPr marL="457200" lvl="0" indent="-304800" algn="l" rtl="0">
              <a:spcBef>
                <a:spcPts val="0"/>
              </a:spcBef>
              <a:spcAft>
                <a:spcPts val="0"/>
              </a:spcAft>
              <a:buSzPts val="1200"/>
              <a:buChar char="●"/>
              <a:defRPr/>
            </a:pPr>
            <a:r>
              <a:rPr lang="en" sz="1200"/>
              <a:t>This framework allows you get React projects setup more quickly in general rather than just using React.js without next.</a:t>
            </a:r>
            <a:endParaRPr sz="1200"/>
          </a:p>
          <a:p>
            <a:pPr marL="0" lvl="0" indent="0" algn="l" rtl="0">
              <a:spcBef>
                <a:spcPts val="1600"/>
              </a:spcBef>
              <a:spcAft>
                <a:spcPts val="0"/>
              </a:spcAft>
              <a:buNone/>
              <a:defRPr/>
            </a:pPr>
            <a:endParaRPr sz="1200"/>
          </a:p>
          <a:p>
            <a:pPr marL="0" lvl="0" indent="0" algn="l" rtl="0">
              <a:spcBef>
                <a:spcPts val="1600"/>
              </a:spcBef>
              <a:spcAft>
                <a:spcPts val="1600"/>
              </a:spcAft>
              <a:buNone/>
              <a:defRPr/>
            </a:pP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0129187" name="Google Shape;117;p22"/>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Okay</a:t>
            </a:r>
            <a:r>
              <a:rPr lang="en-US"/>
              <a:t>,</a:t>
            </a:r>
            <a:r>
              <a:rPr lang="en"/>
              <a:t> </a:t>
            </a:r>
            <a:r>
              <a:rPr lang="en-US"/>
              <a:t>w</a:t>
            </a:r>
            <a:r>
              <a:rPr lang="en"/>
              <a:t>ho uses </a:t>
            </a:r>
            <a:r>
              <a:rPr lang="en-US"/>
              <a:t>R</a:t>
            </a:r>
            <a:r>
              <a:rPr lang="en"/>
              <a:t>eact and Next.js</a:t>
            </a:r>
            <a:r>
              <a:rPr lang="en-US"/>
              <a:t>?</a:t>
            </a:r>
            <a:r>
              <a:rPr lang="en"/>
              <a:t> </a:t>
            </a:r>
            <a:endParaRPr/>
          </a:p>
        </p:txBody>
      </p:sp>
      <p:sp>
        <p:nvSpPr>
          <p:cNvPr id="371276110" name="Google Shape;118;p22"/>
          <p:cNvSpPr txBox="1"/>
          <p:nvPr>
            <p:ph type="body" idx="1"/>
          </p:nvPr>
        </p:nvSpPr>
        <p:spPr bwMode="auto">
          <a:xfrm>
            <a:off x="387900" y="12612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400"/>
              <a:t>Companies that use Next.js in production.</a:t>
            </a:r>
            <a:endParaRPr sz="1400"/>
          </a:p>
          <a:p>
            <a:pPr marL="457200" lvl="0" indent="-317500" algn="l" rtl="0">
              <a:spcBef>
                <a:spcPts val="1600"/>
              </a:spcBef>
              <a:spcAft>
                <a:spcPts val="0"/>
              </a:spcAft>
              <a:buSzPts val="1400"/>
              <a:buChar char="●"/>
              <a:defRPr/>
            </a:pPr>
            <a:r>
              <a:rPr lang="en" sz="1400"/>
              <a:t>Netflix</a:t>
            </a:r>
            <a:endParaRPr sz="1400"/>
          </a:p>
          <a:p>
            <a:pPr marL="457200" lvl="0" indent="-317500" algn="l" rtl="0">
              <a:spcBef>
                <a:spcPts val="0"/>
              </a:spcBef>
              <a:spcAft>
                <a:spcPts val="0"/>
              </a:spcAft>
              <a:buSzPts val="1400"/>
              <a:buChar char="●"/>
              <a:defRPr/>
            </a:pPr>
            <a:r>
              <a:rPr lang="en" sz="1400"/>
              <a:t>Twitch</a:t>
            </a:r>
            <a:endParaRPr sz="1400"/>
          </a:p>
          <a:p>
            <a:pPr marL="457200" lvl="0" indent="-317500" algn="l" rtl="0">
              <a:spcBef>
                <a:spcPts val="0"/>
              </a:spcBef>
              <a:spcAft>
                <a:spcPts val="0"/>
              </a:spcAft>
              <a:buSzPts val="1400"/>
              <a:buChar char="●"/>
              <a:defRPr/>
            </a:pPr>
            <a:r>
              <a:rPr lang="en" sz="1400"/>
              <a:t>TikTok</a:t>
            </a:r>
            <a:endParaRPr sz="1400"/>
          </a:p>
          <a:p>
            <a:pPr marL="457200" lvl="0" indent="-317500" algn="l" rtl="0">
              <a:spcBef>
                <a:spcPts val="0"/>
              </a:spcBef>
              <a:spcAft>
                <a:spcPts val="0"/>
              </a:spcAft>
              <a:buSzPts val="1400"/>
              <a:buChar char="●"/>
              <a:defRPr/>
            </a:pPr>
            <a:r>
              <a:rPr lang="en" sz="1400"/>
              <a:t>Hulu</a:t>
            </a:r>
            <a:endParaRPr sz="1400"/>
          </a:p>
          <a:p>
            <a:pPr marL="457200" lvl="0" indent="-317500" algn="l" rtl="0">
              <a:spcBef>
                <a:spcPts val="0"/>
              </a:spcBef>
              <a:spcAft>
                <a:spcPts val="0"/>
              </a:spcAft>
              <a:buSzPts val="1400"/>
              <a:buChar char="●"/>
              <a:defRPr/>
            </a:pPr>
            <a:r>
              <a:rPr lang="en" sz="1400"/>
              <a:t>Nike</a:t>
            </a:r>
            <a:endParaRPr sz="1400"/>
          </a:p>
          <a:p>
            <a:pPr marL="457200" lvl="0" indent="-317500" algn="l" rtl="0">
              <a:spcBef>
                <a:spcPts val="0"/>
              </a:spcBef>
              <a:spcAft>
                <a:spcPts val="0"/>
              </a:spcAft>
              <a:buSzPts val="1400"/>
              <a:buChar char="●"/>
              <a:defRPr/>
            </a:pPr>
            <a:r>
              <a:rPr lang="en" sz="1400"/>
              <a:t>Uber</a:t>
            </a:r>
            <a:endParaRPr sz="1400"/>
          </a:p>
          <a:p>
            <a:pPr marL="457200" lvl="0" indent="-317500" algn="l" rtl="0">
              <a:spcBef>
                <a:spcPts val="0"/>
              </a:spcBef>
              <a:spcAft>
                <a:spcPts val="0"/>
              </a:spcAft>
              <a:buSzPts val="1400"/>
              <a:buChar char="●"/>
              <a:defRPr/>
            </a:pPr>
            <a:r>
              <a:rPr lang="en" sz="1400"/>
              <a:t>Elastic</a:t>
            </a:r>
            <a:endParaRPr sz="1400"/>
          </a:p>
          <a:p>
            <a:pPr marL="0" lvl="0" indent="0" algn="l" rtl="0">
              <a:spcBef>
                <a:spcPts val="1600"/>
              </a:spcBef>
              <a:spcAft>
                <a:spcPts val="1600"/>
              </a:spcAft>
              <a:buNone/>
              <a:defRPr/>
            </a:pPr>
            <a:r>
              <a:rPr lang="en" sz="1400"/>
              <a:t>You can see the full list here </a:t>
            </a:r>
            <a:r>
              <a:rPr lang="en" sz="1400" u="sng">
                <a:solidFill>
                  <a:schemeClr val="hlink"/>
                </a:solidFill>
                <a:hlinkClick r:id="rId3" tooltip=""/>
              </a:rPr>
              <a:t>https://nextjs.org/showcase</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6697971" name="Google Shape;123;p23"/>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React Components</a:t>
            </a:r>
            <a:endParaRPr/>
          </a:p>
        </p:txBody>
      </p:sp>
      <p:sp>
        <p:nvSpPr>
          <p:cNvPr id="687485895" name="Google Shape;124;p23"/>
          <p:cNvSpPr txBox="1"/>
          <p:nvPr>
            <p:ph type="body" idx="1"/>
          </p:nvPr>
        </p:nvSpPr>
        <p:spPr bwMode="auto">
          <a:xfrm>
            <a:off x="387900" y="1185025"/>
            <a:ext cx="8368200" cy="38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400"/>
              <a:t>Components could be pages in your app, some type of piece of functionality in your app, or some type of layout/styling.</a:t>
            </a:r>
            <a:endParaRPr sz="1400"/>
          </a:p>
          <a:p>
            <a:pPr marL="0" lvl="0" indent="0" algn="l" rtl="0">
              <a:spcBef>
                <a:spcPts val="1600"/>
              </a:spcBef>
              <a:spcAft>
                <a:spcPts val="0"/>
              </a:spcAft>
              <a:buNone/>
              <a:defRPr/>
            </a:pPr>
            <a:r>
              <a:rPr lang="en" sz="1400"/>
              <a:t>Types of Component</a:t>
            </a:r>
            <a:endParaRPr sz="1400"/>
          </a:p>
          <a:p>
            <a:pPr marL="457200" lvl="0" indent="-317500" algn="l" rtl="0">
              <a:spcBef>
                <a:spcPts val="1600"/>
              </a:spcBef>
              <a:spcAft>
                <a:spcPts val="0"/>
              </a:spcAft>
              <a:buSzPts val="1400"/>
              <a:buChar char="●"/>
              <a:defRPr/>
            </a:pPr>
            <a:r>
              <a:rPr lang="en" sz="1400"/>
              <a:t>Class Based Components</a:t>
            </a:r>
            <a:endParaRPr sz="1400"/>
          </a:p>
          <a:p>
            <a:pPr marL="914400" lvl="1" indent="-317500" algn="l" rtl="0">
              <a:spcBef>
                <a:spcPts val="0"/>
              </a:spcBef>
              <a:spcAft>
                <a:spcPts val="0"/>
              </a:spcAft>
              <a:buSzPts val="1400"/>
              <a:buChar char="○"/>
              <a:defRPr/>
            </a:pPr>
            <a:r>
              <a:rPr lang="en"/>
              <a:t>Class based components are what react what originally written with. </a:t>
            </a:r>
            <a:endParaRPr/>
          </a:p>
          <a:p>
            <a:pPr marL="457200" lvl="0" indent="-317500" algn="l" rtl="0">
              <a:spcBef>
                <a:spcPts val="0"/>
              </a:spcBef>
              <a:spcAft>
                <a:spcPts val="0"/>
              </a:spcAft>
              <a:buSzPts val="1400"/>
              <a:buChar char="●"/>
              <a:defRPr/>
            </a:pPr>
            <a:r>
              <a:rPr lang="en" sz="1400"/>
              <a:t>Functionally Based Components (hooks)</a:t>
            </a:r>
            <a:endParaRPr sz="1400"/>
          </a:p>
          <a:p>
            <a:pPr marL="914400" lvl="1" indent="-317500" algn="l" rtl="0">
              <a:spcBef>
                <a:spcPts val="0"/>
              </a:spcBef>
              <a:spcAft>
                <a:spcPts val="0"/>
              </a:spcAft>
              <a:buSzPts val="1400"/>
              <a:buChar char="○"/>
              <a:defRPr/>
            </a:pPr>
            <a:r>
              <a:rPr lang="en"/>
              <a:t>There are the newer* way to write components in react, also it is encouraged to write components in this way. As well this saves many lines of code.</a:t>
            </a:r>
            <a:endParaRPr/>
          </a:p>
          <a:p>
            <a:pPr marL="0" lvl="0" indent="0" algn="l" rtl="0">
              <a:spcBef>
                <a:spcPts val="1600"/>
              </a:spcBef>
              <a:spcAft>
                <a:spcPts val="1600"/>
              </a:spcAft>
              <a:buNone/>
              <a:defRPr/>
            </a:pPr>
            <a:r>
              <a:rPr lang="en" sz="1400"/>
              <a:t>Note: While React encourages users to use functionally based components </a:t>
            </a:r>
            <a:r>
              <a:rPr lang="en" sz="1400" u="sng">
                <a:solidFill>
                  <a:schemeClr val="hlink"/>
                </a:solidFill>
                <a:hlinkClick r:id="rId3" tooltip=""/>
              </a:rPr>
              <a:t>it does not have any plans to retire Class based components</a:t>
            </a:r>
            <a:r>
              <a:rPr lang="en" sz="1400"/>
              <a:t>. Although since we're learning from the start then we're going to mainly focus on functional based components.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6754109" name="Google Shape;129;p24"/>
          <p:cNvSpPr txBox="1"/>
          <p:nvPr>
            <p:ph type="ctrTitle"/>
          </p:nvPr>
        </p:nvSpPr>
        <p:spPr bwMode="auto">
          <a:xfrm>
            <a:off x="1680301"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What does React even look like?</a:t>
            </a:r>
            <a:endParaRPr/>
          </a:p>
        </p:txBody>
      </p:sp>
      <p:sp>
        <p:nvSpPr>
          <p:cNvPr id="1346207289" name="Google Shape;130;p24"/>
          <p:cNvSpPr txBox="1"/>
          <p:nvPr>
            <p:ph type="subTitle" idx="1"/>
          </p:nvPr>
        </p:nvSpPr>
        <p:spPr bwMode="auto">
          <a:xfrm>
            <a:off x="1680301"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defRPr/>
            </a:pPr>
            <a:r>
              <a:rPr lang="en" sz="2200" u="sng">
                <a:solidFill>
                  <a:schemeClr val="hlink"/>
                </a:solidFill>
                <a:hlinkClick r:id="rId3" tooltip=""/>
              </a:rPr>
              <a:t>React without JSX Example</a:t>
            </a:r>
            <a:r>
              <a:rPr lang="en" sz="2200"/>
              <a:t> </a:t>
            </a:r>
            <a:endParaRPr sz="2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5640795" name="Google Shape;135;p25"/>
          <p:cNvSpPr txBox="1"/>
          <p:nvPr>
            <p:ph type="title"/>
          </p:nvPr>
        </p:nvSpPr>
        <p:spPr bwMode="auto">
          <a:xfrm>
            <a:off x="248400" y="1440025"/>
            <a:ext cx="4045199"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Where are we?</a:t>
            </a:r>
            <a:endParaRPr/>
          </a:p>
        </p:txBody>
      </p:sp>
      <p:sp>
        <p:nvSpPr>
          <p:cNvPr id="382518200" name="Google Shape;136;p25"/>
          <p:cNvSpPr txBox="1"/>
          <p:nvPr>
            <p:ph type="body" idx="2"/>
          </p:nvPr>
        </p:nvSpPr>
        <p:spPr bwMode="auto">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defRPr/>
            </a:pPr>
            <a:r>
              <a:rPr lang="en" sz="1600"/>
              <a:t>Expectations</a:t>
            </a:r>
            <a:endParaRPr sz="1600"/>
          </a:p>
          <a:p>
            <a:pPr marL="457200" lvl="0" indent="-330200" algn="l" rtl="0">
              <a:spcBef>
                <a:spcPts val="0"/>
              </a:spcBef>
              <a:spcAft>
                <a:spcPts val="0"/>
              </a:spcAft>
              <a:buSzPts val="1600"/>
              <a:buAutoNum type="arabicPeriod"/>
              <a:defRPr/>
            </a:pPr>
            <a:r>
              <a:rPr lang="en" sz="1600"/>
              <a:t>What is React</a:t>
            </a:r>
            <a:endParaRPr sz="1600"/>
          </a:p>
          <a:p>
            <a:pPr marL="457200" lvl="0" indent="-330200" algn="l" rtl="0">
              <a:spcBef>
                <a:spcPts val="0"/>
              </a:spcBef>
              <a:spcAft>
                <a:spcPts val="0"/>
              </a:spcAft>
              <a:buSzPts val="1600"/>
              <a:buAutoNum type="arabicPeriod"/>
              <a:defRPr/>
            </a:pPr>
            <a:r>
              <a:rPr lang="en" sz="1600"/>
              <a:t>Why use React</a:t>
            </a:r>
            <a:endParaRPr sz="1600"/>
          </a:p>
          <a:p>
            <a:pPr marL="457200" lvl="0" indent="-330200" algn="l" rtl="0">
              <a:spcBef>
                <a:spcPts val="0"/>
              </a:spcBef>
              <a:spcAft>
                <a:spcPts val="0"/>
              </a:spcAft>
              <a:buSzPts val="1600"/>
              <a:buAutoNum type="arabicPeriod"/>
              <a:defRPr/>
            </a:pPr>
            <a:r>
              <a:rPr lang="en" sz="1600"/>
              <a:t>What is Next.js</a:t>
            </a:r>
            <a:endParaRPr sz="1600"/>
          </a:p>
          <a:p>
            <a:pPr marL="457200" lvl="0" indent="-330200" algn="l" rtl="0">
              <a:spcBef>
                <a:spcPts val="0"/>
              </a:spcBef>
              <a:spcAft>
                <a:spcPts val="0"/>
              </a:spcAft>
              <a:buSzPts val="1600"/>
              <a:buAutoNum type="arabicPeriod"/>
              <a:defRPr/>
            </a:pPr>
            <a:r>
              <a:rPr lang="en" sz="1600"/>
              <a:t>React Components</a:t>
            </a:r>
            <a:endParaRPr sz="1600"/>
          </a:p>
          <a:p>
            <a:pPr marL="457200" lvl="0" indent="-330200" algn="l" rtl="0">
              <a:spcBef>
                <a:spcPts val="0"/>
              </a:spcBef>
              <a:spcAft>
                <a:spcPts val="0"/>
              </a:spcAft>
              <a:buSzPts val="1600"/>
              <a:buAutoNum type="arabicPeriod"/>
              <a:defRPr/>
            </a:pPr>
            <a:r>
              <a:rPr lang="en" sz="1600"/>
              <a:t>What does it look like?</a:t>
            </a:r>
            <a:endParaRPr sz="1600"/>
          </a:p>
          <a:p>
            <a:pPr marL="457200" lvl="0" indent="-330200" algn="l" rtl="0">
              <a:spcBef>
                <a:spcPts val="0"/>
              </a:spcBef>
              <a:spcAft>
                <a:spcPts val="0"/>
              </a:spcAft>
              <a:buSzPts val="1600"/>
              <a:buAutoNum type="arabicPeriod"/>
              <a:defRPr/>
            </a:pPr>
            <a:r>
              <a:rPr lang="en" sz="1600"/>
              <a:t>A small intro to JSX</a:t>
            </a:r>
            <a:endParaRPr sz="1600"/>
          </a:p>
          <a:p>
            <a:pPr marL="457200" lvl="0" indent="-330200" algn="l" rtl="0">
              <a:spcBef>
                <a:spcPts val="0"/>
              </a:spcBef>
              <a:spcAft>
                <a:spcPts val="0"/>
              </a:spcAft>
              <a:buSzPts val="1600"/>
              <a:buAutoNum type="arabicPeriod"/>
              <a:defRPr/>
            </a:pPr>
            <a:r>
              <a:rPr lang="en" sz="1600"/>
              <a:t>A Class Based Component with JSX</a:t>
            </a:r>
            <a:endParaRPr sz="1600"/>
          </a:p>
          <a:p>
            <a:pPr marL="457200" lvl="0" indent="-330200" algn="l" rtl="0">
              <a:spcBef>
                <a:spcPts val="0"/>
              </a:spcBef>
              <a:spcAft>
                <a:spcPts val="0"/>
              </a:spcAft>
              <a:buSzPts val="1600"/>
              <a:buAutoNum type="arabicPeriod"/>
              <a:defRPr/>
            </a:pPr>
            <a:r>
              <a:rPr lang="en" sz="1600"/>
              <a:t>A Function Based Component (Hook) </a:t>
            </a:r>
            <a:endParaRPr sz="1600"/>
          </a:p>
          <a:p>
            <a:pPr marL="457200" lvl="0" indent="-330200" algn="l" rtl="0">
              <a:spcBef>
                <a:spcPts val="0"/>
              </a:spcBef>
              <a:spcAft>
                <a:spcPts val="0"/>
              </a:spcAft>
              <a:buSzPts val="1600"/>
              <a:buAutoNum type="arabicPeriod"/>
              <a:defRPr/>
            </a:pPr>
            <a:r>
              <a:rPr lang="en" sz="1600"/>
              <a:t>Let’s Install and Explore Next.js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9713275" name="Google Shape;141;p26"/>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A Small Intro to </a:t>
            </a:r>
            <a:r>
              <a:rPr lang="en"/>
              <a:t>JSX</a:t>
            </a:r>
            <a:endParaRPr/>
          </a:p>
        </p:txBody>
      </p:sp>
      <p:sp>
        <p:nvSpPr>
          <p:cNvPr id="1366708757" name="Google Shape;142;p26"/>
          <p:cNvSpPr txBox="1"/>
          <p:nvPr>
            <p:ph type="body" idx="1"/>
          </p:nvPr>
        </p:nvSpPr>
        <p:spPr bwMode="auto">
          <a:xfrm>
            <a:off x="387900" y="1185025"/>
            <a:ext cx="8368200" cy="38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US"/>
              <a:t>W</a:t>
            </a:r>
            <a:r>
              <a:rPr lang="en"/>
              <a:t>ith React.createElement we can create elements in React.</a:t>
            </a:r>
            <a:endParaRPr/>
          </a:p>
          <a:p>
            <a:pPr marL="0" lvl="0" indent="0" algn="l" rtl="0">
              <a:spcBef>
                <a:spcPts val="1600"/>
              </a:spcBef>
              <a:spcAft>
                <a:spcPts val="0"/>
              </a:spcAft>
              <a:buNone/>
              <a:defRPr/>
            </a:pPr>
            <a:r>
              <a:rPr lang="en-US"/>
              <a:t>If we have to do that every time, no ty, big yikes, that’s cumbersome.</a:t>
            </a:r>
            <a:endParaRPr/>
          </a:p>
          <a:p>
            <a:pPr marL="0" lvl="0" indent="0" algn="l" rtl="0">
              <a:spcBef>
                <a:spcPts val="1600"/>
              </a:spcBef>
              <a:spcAft>
                <a:spcPts val="0"/>
              </a:spcAft>
              <a:buNone/>
              <a:defRPr/>
            </a:pPr>
            <a:r>
              <a:rPr lang="en-US"/>
              <a:t>Instead, we use </a:t>
            </a:r>
            <a:r>
              <a:rPr lang="en"/>
              <a:t>JSX</a:t>
            </a:r>
            <a:r>
              <a:rPr lang="en-US"/>
              <a:t>, a </a:t>
            </a:r>
            <a:r>
              <a:rPr lang="en"/>
              <a:t>template(ish) language that allows you to write what feels like HTML and Javascript together. </a:t>
            </a:r>
            <a:endParaRPr lang="en"/>
          </a:p>
          <a:p>
            <a:pPr marL="0" lvl="0" indent="0" algn="l" rtl="0">
              <a:spcBef>
                <a:spcPts val="1599"/>
              </a:spcBef>
              <a:spcAft>
                <a:spcPts val="0"/>
              </a:spcAft>
              <a:buNone/>
              <a:defRPr/>
            </a:pPr>
            <a:r>
              <a:rPr lang="en"/>
              <a:t>Under the hood</a:t>
            </a:r>
            <a:r>
              <a:rPr lang="en-US"/>
              <a:t>,</a:t>
            </a:r>
            <a:r>
              <a:rPr lang="en"/>
              <a:t> babel is converting all of the elements to "React.createElement" anyways, but</a:t>
            </a:r>
            <a:r>
              <a:rPr lang="en-US"/>
              <a:t> a little</a:t>
            </a:r>
            <a:r>
              <a:rPr lang="en"/>
              <a:t> more on that later.</a:t>
            </a:r>
            <a:endParaRPr/>
          </a:p>
          <a:p>
            <a:pPr marL="0" lvl="0" indent="0" algn="l" rtl="0">
              <a:spcBef>
                <a:spcPts val="1600"/>
              </a:spcBef>
              <a:spcAft>
                <a:spcPts val="0"/>
              </a:spcAft>
              <a:buNone/>
              <a:defRPr/>
            </a:pPr>
            <a:r>
              <a:rPr lang="en"/>
              <a:t>Let’s go take a look at an example of what it looks like.</a:t>
            </a:r>
            <a:endParaRPr/>
          </a:p>
          <a:p>
            <a:pPr marL="0" lvl="0" indent="0" algn="l" rtl="0">
              <a:spcBef>
                <a:spcPts val="1600"/>
              </a:spcBef>
              <a:spcAft>
                <a:spcPts val="160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7083533" name="Google Shape;147;p27"/>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JSX Example</a:t>
            </a:r>
            <a:endParaRPr/>
          </a:p>
        </p:txBody>
      </p:sp>
      <p:sp>
        <p:nvSpPr>
          <p:cNvPr id="1017699572" name="Google Shape;148;p27"/>
          <p:cNvSpPr txBox="1"/>
          <p:nvPr/>
        </p:nvSpPr>
        <p:spPr bwMode="auto">
          <a:xfrm>
            <a:off x="286625" y="1840349"/>
            <a:ext cx="3930900" cy="14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150">
                <a:solidFill>
                  <a:srgbClr val="4DD0E1"/>
                </a:solidFill>
                <a:latin typeface="Roboto Mono"/>
                <a:ea typeface="Roboto Mono"/>
                <a:cs typeface="Roboto Mono"/>
              </a:rPr>
              <a:t>const</a:t>
            </a:r>
            <a:r>
              <a:rPr lang="en" sz="1150">
                <a:solidFill>
                  <a:srgbClr val="ECEFF1"/>
                </a:solidFill>
                <a:latin typeface="Roboto Mono"/>
                <a:ea typeface="Roboto Mono"/>
                <a:cs typeface="Roboto Mono"/>
              </a:rPr>
              <a:t> helloKitties = () =&gt;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r>
              <a:rPr lang="en" sz="1150">
                <a:solidFill>
                  <a:srgbClr val="4DD0E1"/>
                </a:solidFill>
                <a:latin typeface="Roboto Mono"/>
                <a:ea typeface="Roboto Mono"/>
                <a:cs typeface="Roboto Mono"/>
              </a:rPr>
              <a:t>return</a:t>
            </a:r>
            <a:r>
              <a:rPr lang="en" sz="1150">
                <a:solidFill>
                  <a:srgbClr val="ECEFF1"/>
                </a:solidFill>
                <a:latin typeface="Roboto Mono"/>
                <a:ea typeface="Roboto Mono"/>
                <a:cs typeface="Roboto Mono"/>
              </a:rPr>
              <a:t> &lt;div&gt;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&lt;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cat=</a:t>
            </a:r>
            <a:r>
              <a:rPr lang="en" sz="1150">
                <a:solidFill>
                  <a:srgbClr val="9CCC65"/>
                </a:solidFill>
                <a:latin typeface="Roboto Mono"/>
                <a:ea typeface="Roboto Mono"/>
                <a:cs typeface="Roboto Mono"/>
              </a:rPr>
              <a:t>"MarshMallow"</a:t>
            </a:r>
            <a:r>
              <a:rPr lang="en" sz="1150">
                <a:solidFill>
                  <a:srgbClr val="ECEFF1"/>
                </a:solidFill>
                <a:latin typeface="Roboto Mono"/>
                <a:ea typeface="Roboto Mono"/>
                <a:cs typeface="Roboto Mono"/>
              </a:rPr>
              <a:t> color=</a:t>
            </a:r>
            <a:r>
              <a:rPr lang="en" sz="1150">
                <a:solidFill>
                  <a:srgbClr val="9CCC65"/>
                </a:solidFill>
                <a:latin typeface="Roboto Mono"/>
                <a:ea typeface="Roboto Mono"/>
                <a:cs typeface="Roboto Mono"/>
              </a:rPr>
              <a:t>"white"</a:t>
            </a:r>
            <a:r>
              <a:rPr lang="en" sz="1150">
                <a:solidFill>
                  <a:srgbClr val="ECEFF1"/>
                </a:solidFill>
                <a:latin typeface="Roboto Mono"/>
                <a:ea typeface="Roboto Mono"/>
                <a:cs typeface="Roboto Mono"/>
              </a:rPr>
              <a:t>/&gt;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&lt;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cat=</a:t>
            </a:r>
            <a:r>
              <a:rPr lang="en" sz="1150">
                <a:solidFill>
                  <a:srgbClr val="9CCC65"/>
                </a:solidFill>
                <a:latin typeface="Roboto Mono"/>
                <a:ea typeface="Roboto Mono"/>
                <a:cs typeface="Roboto Mono"/>
              </a:rPr>
              <a:t>"Gambit"</a:t>
            </a:r>
            <a:r>
              <a:rPr lang="en" sz="1150">
                <a:solidFill>
                  <a:srgbClr val="ECEFF1"/>
                </a:solidFill>
                <a:latin typeface="Roboto Mono"/>
                <a:ea typeface="Roboto Mono"/>
                <a:cs typeface="Roboto Mono"/>
              </a:rPr>
              <a:t> color=</a:t>
            </a:r>
            <a:r>
              <a:rPr lang="en" sz="1150">
                <a:solidFill>
                  <a:srgbClr val="9CCC65"/>
                </a:solidFill>
                <a:latin typeface="Roboto Mono"/>
                <a:ea typeface="Roboto Mono"/>
                <a:cs typeface="Roboto Mono"/>
              </a:rPr>
              <a:t>"white"</a:t>
            </a:r>
            <a:r>
              <a:rPr lang="en" sz="1150">
                <a:solidFill>
                  <a:srgbClr val="ECEFF1"/>
                </a:solidFill>
                <a:latin typeface="Roboto Mono"/>
                <a:ea typeface="Roboto Mono"/>
                <a:cs typeface="Roboto Mono"/>
              </a:rPr>
              <a:t>/&gt;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&lt;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cat=</a:t>
            </a:r>
            <a:r>
              <a:rPr lang="en" sz="1150">
                <a:solidFill>
                  <a:srgbClr val="9CCC65"/>
                </a:solidFill>
                <a:latin typeface="Roboto Mono"/>
                <a:ea typeface="Roboto Mono"/>
                <a:cs typeface="Roboto Mono"/>
              </a:rPr>
              <a:t>"Ghost"</a:t>
            </a:r>
            <a:r>
              <a:rPr lang="en" sz="1150">
                <a:solidFill>
                  <a:srgbClr val="ECEFF1"/>
                </a:solidFill>
                <a:latin typeface="Roboto Mono"/>
                <a:ea typeface="Roboto Mono"/>
                <a:cs typeface="Roboto Mono"/>
              </a:rPr>
              <a:t> color=</a:t>
            </a:r>
            <a:r>
              <a:rPr lang="en" sz="1150">
                <a:solidFill>
                  <a:srgbClr val="9CCC65"/>
                </a:solidFill>
                <a:latin typeface="Roboto Mono"/>
                <a:ea typeface="Roboto Mono"/>
                <a:cs typeface="Roboto Mono"/>
              </a:rPr>
              <a:t>"white"</a:t>
            </a:r>
            <a:r>
              <a:rPr lang="en" sz="1150">
                <a:solidFill>
                  <a:srgbClr val="ECEFF1"/>
                </a:solidFill>
                <a:latin typeface="Roboto Mono"/>
                <a:ea typeface="Roboto Mono"/>
                <a:cs typeface="Roboto Mono"/>
              </a:rPr>
              <a:t>/&gt;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&lt;/div&gt;;</a:t>
            </a:r>
            <a:endParaRPr sz="1150">
              <a:solidFill>
                <a:srgbClr val="ECEFF1"/>
              </a:solidFill>
              <a:latin typeface="Roboto Mono"/>
              <a:ea typeface="Roboto Mono"/>
              <a:cs typeface="Roboto Mono"/>
            </a:endParaRPr>
          </a:p>
          <a:p>
            <a:pPr marL="0" lvl="0" indent="0" algn="l" rtl="0">
              <a:lnSpc>
                <a:spcPct val="146739"/>
              </a:lnSpc>
              <a:spcBef>
                <a:spcPts val="0"/>
              </a:spcBef>
              <a:spcAft>
                <a:spcPts val="0"/>
              </a:spcAft>
              <a:buNone/>
              <a:defRPr/>
            </a:pP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p:txBody>
      </p:sp>
      <p:sp>
        <p:nvSpPr>
          <p:cNvPr id="1809005395" name="Google Shape;149;p27"/>
          <p:cNvSpPr txBox="1"/>
          <p:nvPr/>
        </p:nvSpPr>
        <p:spPr bwMode="auto">
          <a:xfrm>
            <a:off x="4217650" y="1535550"/>
            <a:ext cx="4894500" cy="242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150">
                <a:solidFill>
                  <a:srgbClr val="4DD0E1"/>
                </a:solidFill>
                <a:latin typeface="Roboto Mono"/>
                <a:ea typeface="Roboto Mono"/>
                <a:cs typeface="Roboto Mono"/>
              </a:rPr>
              <a:t>const</a:t>
            </a:r>
            <a:r>
              <a:rPr lang="en" sz="1150">
                <a:solidFill>
                  <a:srgbClr val="ECEFF1"/>
                </a:solidFill>
                <a:latin typeface="Roboto Mono"/>
                <a:ea typeface="Roboto Mono"/>
                <a:cs typeface="Roboto Mono"/>
              </a:rPr>
              <a:t> helloKitties = () =&gt;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r>
              <a:rPr lang="en" sz="1150">
                <a:solidFill>
                  <a:srgbClr val="4DD0E1"/>
                </a:solidFill>
                <a:latin typeface="Roboto Mono"/>
                <a:ea typeface="Roboto Mono"/>
                <a:cs typeface="Roboto Mono"/>
              </a:rPr>
              <a:t>return</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React</a:t>
            </a:r>
            <a:r>
              <a:rPr lang="en" sz="1150">
                <a:solidFill>
                  <a:srgbClr val="ECEFF1"/>
                </a:solidFill>
                <a:latin typeface="Roboto Mono"/>
                <a:ea typeface="Roboto Mono"/>
                <a:cs typeface="Roboto Mono"/>
              </a:rPr>
              <a:t>.createElement(</a:t>
            </a:r>
            <a:r>
              <a:rPr lang="en" sz="1150">
                <a:solidFill>
                  <a:srgbClr val="9CCC65"/>
                </a:solidFill>
                <a:latin typeface="Roboto Mono"/>
                <a:ea typeface="Roboto Mono"/>
                <a:cs typeface="Roboto Mono"/>
              </a:rPr>
              <a:t>"div"</a:t>
            </a:r>
            <a:r>
              <a:rPr lang="en" sz="1150">
                <a:solidFill>
                  <a:srgbClr val="ECEFF1"/>
                </a:solidFill>
                <a:latin typeface="Roboto Mono"/>
                <a:ea typeface="Roboto Mono"/>
                <a:cs typeface="Roboto Mono"/>
              </a:rPr>
              <a:t>, </a:t>
            </a:r>
            <a:r>
              <a:rPr lang="en" sz="1150">
                <a:solidFill>
                  <a:srgbClr val="4DD0E1"/>
                </a:solidFill>
                <a:latin typeface="Roboto Mono"/>
                <a:ea typeface="Roboto Mono"/>
                <a:cs typeface="Roboto Mono"/>
              </a:rPr>
              <a:t>null</a:t>
            </a:r>
            <a:r>
              <a:rPr lang="en" sz="1150">
                <a:solidFill>
                  <a:srgbClr val="ECEFF1"/>
                </a:solidFill>
                <a:latin typeface="Roboto Mono"/>
                <a:ea typeface="Roboto Mono"/>
                <a:cs typeface="Roboto Mono"/>
              </a:rPr>
              <a:t>, </a:t>
            </a:r>
            <a:r>
              <a:rPr lang="en" sz="1150">
                <a:solidFill>
                  <a:srgbClr val="F06292"/>
                </a:solidFill>
                <a:latin typeface="Roboto Mono"/>
                <a:ea typeface="Roboto Mono"/>
                <a:cs typeface="Roboto Mono"/>
              </a:rPr>
              <a:t>//next line</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React</a:t>
            </a:r>
            <a:r>
              <a:rPr lang="en" sz="1150">
                <a:solidFill>
                  <a:srgbClr val="ECEFF1"/>
                </a:solidFill>
                <a:latin typeface="Roboto Mono"/>
                <a:ea typeface="Roboto Mono"/>
                <a:cs typeface="Roboto Mono"/>
              </a:rPr>
              <a:t>.createElement(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cat: </a:t>
            </a:r>
            <a:r>
              <a:rPr lang="en" sz="1150">
                <a:solidFill>
                  <a:srgbClr val="9CCC65"/>
                </a:solidFill>
                <a:latin typeface="Roboto Mono"/>
                <a:ea typeface="Roboto Mono"/>
                <a:cs typeface="Roboto Mono"/>
              </a:rPr>
              <a:t>"MarshMallow"</a:t>
            </a: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color: </a:t>
            </a:r>
            <a:r>
              <a:rPr lang="en" sz="1150">
                <a:solidFill>
                  <a:srgbClr val="9CCC65"/>
                </a:solidFill>
                <a:latin typeface="Roboto Mono"/>
                <a:ea typeface="Roboto Mono"/>
                <a:cs typeface="Roboto Mono"/>
              </a:rPr>
              <a:t>"white"</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 </a:t>
            </a:r>
            <a:r>
              <a:rPr lang="en" sz="1150">
                <a:solidFill>
                  <a:srgbClr val="CE93D8"/>
                </a:solidFill>
                <a:latin typeface="Roboto Mono"/>
                <a:ea typeface="Roboto Mono"/>
                <a:cs typeface="Roboto Mono"/>
              </a:rPr>
              <a:t>React</a:t>
            </a:r>
            <a:r>
              <a:rPr lang="en" sz="1150">
                <a:solidFill>
                  <a:srgbClr val="ECEFF1"/>
                </a:solidFill>
                <a:latin typeface="Roboto Mono"/>
                <a:ea typeface="Roboto Mono"/>
                <a:cs typeface="Roboto Mono"/>
              </a:rPr>
              <a:t>.createElement(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cat: </a:t>
            </a:r>
            <a:r>
              <a:rPr lang="en" sz="1150">
                <a:solidFill>
                  <a:srgbClr val="9CCC65"/>
                </a:solidFill>
                <a:latin typeface="Roboto Mono"/>
                <a:ea typeface="Roboto Mono"/>
                <a:cs typeface="Roboto Mono"/>
              </a:rPr>
              <a:t>"Gambit"</a:t>
            </a: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color: </a:t>
            </a:r>
            <a:r>
              <a:rPr lang="en" sz="1150">
                <a:solidFill>
                  <a:srgbClr val="9CCC65"/>
                </a:solidFill>
                <a:latin typeface="Roboto Mono"/>
                <a:ea typeface="Roboto Mono"/>
                <a:cs typeface="Roboto Mono"/>
              </a:rPr>
              <a:t>"white"</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 </a:t>
            </a:r>
            <a:r>
              <a:rPr lang="en" sz="1150">
                <a:solidFill>
                  <a:srgbClr val="CE93D8"/>
                </a:solidFill>
                <a:latin typeface="Roboto Mono"/>
                <a:ea typeface="Roboto Mono"/>
                <a:cs typeface="Roboto Mono"/>
              </a:rPr>
              <a:t>React</a:t>
            </a:r>
            <a:r>
              <a:rPr lang="en" sz="1150">
                <a:solidFill>
                  <a:srgbClr val="ECEFF1"/>
                </a:solidFill>
                <a:latin typeface="Roboto Mono"/>
                <a:ea typeface="Roboto Mono"/>
                <a:cs typeface="Roboto Mono"/>
              </a:rPr>
              <a:t>.createElement(</a:t>
            </a:r>
            <a:r>
              <a:rPr lang="en" sz="1150">
                <a:solidFill>
                  <a:srgbClr val="CE93D8"/>
                </a:solidFill>
                <a:latin typeface="Roboto Mono"/>
                <a:ea typeface="Roboto Mono"/>
                <a:cs typeface="Roboto Mono"/>
              </a:rPr>
              <a:t>Cat</a:t>
            </a: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cat: </a:t>
            </a:r>
            <a:r>
              <a:rPr lang="en" sz="1150">
                <a:solidFill>
                  <a:srgbClr val="9CCC65"/>
                </a:solidFill>
                <a:latin typeface="Roboto Mono"/>
                <a:ea typeface="Roboto Mono"/>
                <a:cs typeface="Roboto Mono"/>
              </a:rPr>
              <a:t>"Ghost"</a:t>
            </a: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color: </a:t>
            </a:r>
            <a:r>
              <a:rPr lang="en" sz="1150">
                <a:solidFill>
                  <a:srgbClr val="9CCC65"/>
                </a:solidFill>
                <a:latin typeface="Roboto Mono"/>
                <a:ea typeface="Roboto Mono"/>
                <a:cs typeface="Roboto Mono"/>
              </a:rPr>
              <a:t>"white"</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lnSpc>
                <a:spcPct val="146739"/>
              </a:lnSpc>
              <a:spcBef>
                <a:spcPts val="0"/>
              </a:spcBef>
              <a:spcAft>
                <a:spcPts val="0"/>
              </a:spcAft>
              <a:buNone/>
              <a:defRPr/>
            </a:pP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p:txBody>
      </p:sp>
      <p:sp>
        <p:nvSpPr>
          <p:cNvPr id="675006918" name="Google Shape;150;p27"/>
          <p:cNvSpPr txBox="1"/>
          <p:nvPr>
            <p:ph type="body" idx="1"/>
          </p:nvPr>
        </p:nvSpPr>
        <p:spPr bwMode="auto">
          <a:xfrm>
            <a:off x="286625" y="1261225"/>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JSX (what you’re going to write)</a:t>
            </a:r>
            <a:endParaRPr sz="1200"/>
          </a:p>
        </p:txBody>
      </p:sp>
      <p:sp>
        <p:nvSpPr>
          <p:cNvPr id="1259173606" name="Google Shape;151;p27"/>
          <p:cNvSpPr txBox="1"/>
          <p:nvPr>
            <p:ph type="body" idx="4294967295"/>
          </p:nvPr>
        </p:nvSpPr>
        <p:spPr bwMode="auto">
          <a:xfrm>
            <a:off x="4217650" y="894625"/>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Transpiled with Babel (what is transpiled with babel, essentially what’s happening under the hood.)</a:t>
            </a:r>
            <a:endParaRPr sz="1200"/>
          </a:p>
        </p:txBody>
      </p:sp>
      <p:sp>
        <p:nvSpPr>
          <p:cNvPr id="2135738960" name="Google Shape;152;p27"/>
          <p:cNvSpPr txBox="1"/>
          <p:nvPr>
            <p:ph type="body" idx="1"/>
          </p:nvPr>
        </p:nvSpPr>
        <p:spPr bwMode="auto">
          <a:xfrm>
            <a:off x="387900" y="4057050"/>
            <a:ext cx="78297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If you’d like to go take a look at how JSX will transpile in the end, you can take a look here at </a:t>
            </a:r>
            <a:r>
              <a:rPr lang="en" sz="1200" u="sng">
                <a:solidFill>
                  <a:schemeClr val="hlink"/>
                </a:solidFill>
                <a:hlinkClick r:id="rId3" tooltip=""/>
              </a:rPr>
              <a:t>the online babel transpiler</a:t>
            </a:r>
            <a:r>
              <a:rPr lang="en" sz="1200"/>
              <a:t>.</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4138005" name="Google Shape;157;p28"/>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A Class Based Component with JSX</a:t>
            </a:r>
            <a:endParaRPr/>
          </a:p>
        </p:txBody>
      </p:sp>
      <p:sp>
        <p:nvSpPr>
          <p:cNvPr id="2072613837" name="Google Shape;158;p28"/>
          <p:cNvSpPr txBox="1"/>
          <p:nvPr/>
        </p:nvSpPr>
        <p:spPr bwMode="auto">
          <a:xfrm>
            <a:off x="1420800" y="1929075"/>
            <a:ext cx="3000000" cy="3981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defRPr/>
            </a:pPr>
            <a:r>
              <a:rPr lang="en" sz="1150">
                <a:solidFill>
                  <a:srgbClr val="4DD0E1"/>
                </a:solidFill>
                <a:latin typeface="Roboto Mono"/>
                <a:ea typeface="Roboto Mono"/>
                <a:cs typeface="Roboto Mono"/>
              </a:rPr>
              <a:t>&lt;div</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id</a:t>
            </a:r>
            <a:r>
              <a:rPr lang="en" sz="1150">
                <a:solidFill>
                  <a:srgbClr val="ECEFF1"/>
                </a:solidFill>
                <a:latin typeface="Roboto Mono"/>
                <a:ea typeface="Roboto Mono"/>
                <a:cs typeface="Roboto Mono"/>
              </a:rPr>
              <a:t>=</a:t>
            </a:r>
            <a:r>
              <a:rPr lang="en" sz="1150">
                <a:solidFill>
                  <a:srgbClr val="9CCC65"/>
                </a:solidFill>
                <a:latin typeface="Roboto Mono"/>
                <a:ea typeface="Roboto Mono"/>
                <a:cs typeface="Roboto Mono"/>
              </a:rPr>
              <a:t>"react-container"</a:t>
            </a:r>
            <a:r>
              <a:rPr lang="en" sz="1150">
                <a:solidFill>
                  <a:srgbClr val="4DD0E1"/>
                </a:solidFill>
                <a:latin typeface="Roboto Mono"/>
                <a:ea typeface="Roboto Mono"/>
                <a:cs typeface="Roboto Mono"/>
              </a:rPr>
              <a:t>&gt;&lt;/div&gt;</a:t>
            </a:r>
            <a:endParaRPr sz="1150">
              <a:solidFill>
                <a:srgbClr val="4DD0E1"/>
              </a:solidFill>
              <a:latin typeface="Roboto Mono"/>
              <a:ea typeface="Roboto Mono"/>
              <a:cs typeface="Roboto Mono"/>
            </a:endParaRPr>
          </a:p>
        </p:txBody>
      </p:sp>
      <p:sp>
        <p:nvSpPr>
          <p:cNvPr id="987478692" name="Google Shape;159;p28"/>
          <p:cNvSpPr txBox="1"/>
          <p:nvPr/>
        </p:nvSpPr>
        <p:spPr bwMode="auto">
          <a:xfrm>
            <a:off x="1420800" y="2757100"/>
            <a:ext cx="4387200" cy="14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150">
                <a:solidFill>
                  <a:srgbClr val="4DD0E1"/>
                </a:solidFill>
                <a:latin typeface="Roboto Mono"/>
                <a:ea typeface="Roboto Mono"/>
                <a:cs typeface="Roboto Mono"/>
              </a:rPr>
              <a:t>class</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HelloWorld</a:t>
            </a:r>
            <a:r>
              <a:rPr lang="en" sz="1150">
                <a:solidFill>
                  <a:srgbClr val="ECEFF1"/>
                </a:solidFill>
                <a:latin typeface="Roboto Mono"/>
                <a:ea typeface="Roboto Mono"/>
                <a:cs typeface="Roboto Mono"/>
              </a:rPr>
              <a:t> extends </a:t>
            </a:r>
            <a:r>
              <a:rPr lang="en" sz="1150">
                <a:solidFill>
                  <a:srgbClr val="CE93D8"/>
                </a:solidFill>
                <a:latin typeface="Roboto Mono"/>
                <a:ea typeface="Roboto Mono"/>
                <a:cs typeface="Roboto Mono"/>
              </a:rPr>
              <a:t>React</a:t>
            </a:r>
            <a:r>
              <a:rPr lang="en" sz="1150">
                <a:solidFill>
                  <a:srgbClr val="ECEFF1"/>
                </a:solidFill>
                <a:latin typeface="Roboto Mono"/>
                <a:ea typeface="Roboto Mono"/>
                <a:cs typeface="Roboto Mono"/>
              </a:rPr>
              <a:t>.</a:t>
            </a:r>
            <a:r>
              <a:rPr lang="en" sz="1150">
                <a:solidFill>
                  <a:srgbClr val="CE93D8"/>
                </a:solidFill>
                <a:latin typeface="Roboto Mono"/>
                <a:ea typeface="Roboto Mono"/>
                <a:cs typeface="Roboto Mono"/>
              </a:rPr>
              <a:t>Component</a:t>
            </a: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render()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r>
              <a:rPr lang="en" sz="1150">
                <a:solidFill>
                  <a:srgbClr val="4DD0E1"/>
                </a:solidFill>
                <a:latin typeface="Roboto Mono"/>
                <a:ea typeface="Roboto Mono"/>
                <a:cs typeface="Roboto Mono"/>
              </a:rPr>
              <a:t>return</a:t>
            </a: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&lt;div&gt;</a:t>
            </a:r>
            <a:r>
              <a:rPr lang="en" sz="1150">
                <a:solidFill>
                  <a:srgbClr val="CE93D8"/>
                </a:solidFill>
                <a:latin typeface="Roboto Mono"/>
                <a:ea typeface="Roboto Mono"/>
                <a:cs typeface="Roboto Mono"/>
              </a:rPr>
              <a:t>Hello</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World</a:t>
            </a:r>
            <a:r>
              <a:rPr lang="en" sz="1150">
                <a:solidFill>
                  <a:srgbClr val="ECEFF1"/>
                </a:solidFill>
                <a:latin typeface="Roboto Mono"/>
                <a:ea typeface="Roboto Mono"/>
                <a:cs typeface="Roboto Mono"/>
              </a:rPr>
              <a:t>, you seem classy&lt;/div&gt;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endParaRPr sz="1150">
              <a:solidFill>
                <a:srgbClr val="ECEFF1"/>
              </a:solidFill>
              <a:latin typeface="Roboto Mono"/>
              <a:ea typeface="Roboto Mono"/>
              <a:cs typeface="Roboto Mono"/>
            </a:endParaRPr>
          </a:p>
          <a:p>
            <a:pPr marL="0" lvl="0" indent="0" algn="l" rtl="0">
              <a:lnSpc>
                <a:spcPct val="146739"/>
              </a:lnSpc>
              <a:spcBef>
                <a:spcPts val="0"/>
              </a:spcBef>
              <a:spcAft>
                <a:spcPts val="0"/>
              </a:spcAft>
              <a:buNone/>
              <a:defRPr/>
            </a:pP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p:txBody>
      </p:sp>
      <p:sp>
        <p:nvSpPr>
          <p:cNvPr id="948578444" name="Google Shape;160;p28"/>
          <p:cNvSpPr txBox="1"/>
          <p:nvPr>
            <p:ph type="body" idx="1"/>
          </p:nvPr>
        </p:nvSpPr>
        <p:spPr bwMode="auto">
          <a:xfrm>
            <a:off x="1420800" y="1562474"/>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HTML:</a:t>
            </a:r>
            <a:endParaRPr sz="1200"/>
          </a:p>
        </p:txBody>
      </p:sp>
      <p:sp>
        <p:nvSpPr>
          <p:cNvPr id="1385237740" name="Google Shape;161;p28"/>
          <p:cNvSpPr txBox="1"/>
          <p:nvPr>
            <p:ph type="body" idx="4294967295"/>
          </p:nvPr>
        </p:nvSpPr>
        <p:spPr bwMode="auto">
          <a:xfrm>
            <a:off x="1420800" y="251350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Javascript</a:t>
            </a:r>
            <a:endParaRPr sz="1200"/>
          </a:p>
        </p:txBody>
      </p:sp>
      <p:sp>
        <p:nvSpPr>
          <p:cNvPr id="1580485405" name="Google Shape;162;p28"/>
          <p:cNvSpPr txBox="1"/>
          <p:nvPr>
            <p:ph type="body" idx="4294967295"/>
          </p:nvPr>
        </p:nvSpPr>
        <p:spPr bwMode="auto">
          <a:xfrm>
            <a:off x="4966200" y="1407925"/>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t>Example:</a:t>
            </a:r>
            <a:br>
              <a:rPr lang="en" sz="1200"/>
            </a:br>
            <a:r>
              <a:rPr lang="en" sz="1200" u="sng">
                <a:solidFill>
                  <a:schemeClr val="hlink"/>
                </a:solidFill>
                <a:hlinkClick r:id="rId3" tooltip=""/>
              </a:rPr>
              <a:t>https://jsfiddle.net/dgmouris/9625cmta/7/</a:t>
            </a:r>
            <a:br>
              <a:rPr lang="en" sz="1200"/>
            </a:br>
            <a:r>
              <a:rPr lang="en" sz="1200" u="sng">
                <a:solidFill>
                  <a:schemeClr val="hlink"/>
                </a:solidFill>
                <a:hlinkClick r:id="rId4" tooltip=""/>
              </a:rPr>
              <a:t>https://jsfiddle.net/dgmouris/9625cmta/19/</a:t>
            </a:r>
            <a:r>
              <a:rPr lang="en" sz="1200"/>
              <a:t> </a:t>
            </a:r>
            <a:endParaRPr sz="1200"/>
          </a:p>
          <a:p>
            <a:pPr marL="0" lvl="0" indent="0" algn="l" rtl="0">
              <a:spcBef>
                <a:spcPts val="1600"/>
              </a:spcBef>
              <a:spcAft>
                <a:spcPts val="0"/>
              </a:spcAft>
              <a:buNone/>
              <a:defRPr/>
            </a:pPr>
            <a:r>
              <a:rPr lang="en" sz="1200"/>
              <a:t> </a:t>
            </a:r>
            <a:endParaRPr sz="1200"/>
          </a:p>
          <a:p>
            <a:pPr marL="0" lvl="0" indent="0" algn="l" rtl="0">
              <a:spcBef>
                <a:spcPts val="1600"/>
              </a:spcBef>
              <a:spcAft>
                <a:spcPts val="1600"/>
              </a:spcAft>
              <a:buNone/>
              <a:defRPr/>
            </a:pP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3168502" name="Google Shape;167;p29"/>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A Function Based Component with JSX</a:t>
            </a:r>
            <a:endParaRPr/>
          </a:p>
        </p:txBody>
      </p:sp>
      <p:sp>
        <p:nvSpPr>
          <p:cNvPr id="1863433942" name="Google Shape;168;p29"/>
          <p:cNvSpPr txBox="1"/>
          <p:nvPr/>
        </p:nvSpPr>
        <p:spPr bwMode="auto">
          <a:xfrm>
            <a:off x="1344600" y="1852875"/>
            <a:ext cx="3000000" cy="398100"/>
          </a:xfrm>
          <a:prstGeom prst="rect">
            <a:avLst/>
          </a:prstGeom>
          <a:noFill/>
          <a:ln>
            <a:noFill/>
          </a:ln>
        </p:spPr>
        <p:txBody>
          <a:bodyPr spcFirstLastPara="1" wrap="square" lIns="91425" tIns="91425" rIns="91425" bIns="91425" anchor="t" anchorCtr="0">
            <a:noAutofit/>
          </a:bodyPr>
          <a:lstStyle/>
          <a:p>
            <a:pPr marL="0" lvl="0" indent="0" algn="l" rtl="0">
              <a:lnSpc>
                <a:spcPct val="146739"/>
              </a:lnSpc>
              <a:spcBef>
                <a:spcPts val="0"/>
              </a:spcBef>
              <a:spcAft>
                <a:spcPts val="0"/>
              </a:spcAft>
              <a:buNone/>
              <a:defRPr/>
            </a:pPr>
            <a:r>
              <a:rPr lang="en" sz="1150">
                <a:solidFill>
                  <a:srgbClr val="4DD0E1"/>
                </a:solidFill>
                <a:latin typeface="Roboto Mono"/>
                <a:ea typeface="Roboto Mono"/>
                <a:cs typeface="Roboto Mono"/>
              </a:rPr>
              <a:t>&lt;div</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id</a:t>
            </a:r>
            <a:r>
              <a:rPr lang="en" sz="1150">
                <a:solidFill>
                  <a:srgbClr val="ECEFF1"/>
                </a:solidFill>
                <a:latin typeface="Roboto Mono"/>
                <a:ea typeface="Roboto Mono"/>
                <a:cs typeface="Roboto Mono"/>
              </a:rPr>
              <a:t>=</a:t>
            </a:r>
            <a:r>
              <a:rPr lang="en" sz="1150">
                <a:solidFill>
                  <a:srgbClr val="9CCC65"/>
                </a:solidFill>
                <a:latin typeface="Roboto Mono"/>
                <a:ea typeface="Roboto Mono"/>
                <a:cs typeface="Roboto Mono"/>
              </a:rPr>
              <a:t>"react-container"</a:t>
            </a:r>
            <a:r>
              <a:rPr lang="en" sz="1150">
                <a:solidFill>
                  <a:srgbClr val="4DD0E1"/>
                </a:solidFill>
                <a:latin typeface="Roboto Mono"/>
                <a:ea typeface="Roboto Mono"/>
                <a:cs typeface="Roboto Mono"/>
              </a:rPr>
              <a:t>&gt;&lt;/div&gt;</a:t>
            </a:r>
            <a:endParaRPr sz="1150">
              <a:solidFill>
                <a:srgbClr val="4DD0E1"/>
              </a:solidFill>
              <a:latin typeface="Roboto Mono"/>
              <a:ea typeface="Roboto Mono"/>
              <a:cs typeface="Roboto Mono"/>
            </a:endParaRPr>
          </a:p>
        </p:txBody>
      </p:sp>
      <p:sp>
        <p:nvSpPr>
          <p:cNvPr id="1156258700" name="Google Shape;169;p29"/>
          <p:cNvSpPr txBox="1"/>
          <p:nvPr>
            <p:ph type="body" idx="1"/>
          </p:nvPr>
        </p:nvSpPr>
        <p:spPr bwMode="auto">
          <a:xfrm>
            <a:off x="1344600" y="1486275"/>
            <a:ext cx="35454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HTML:</a:t>
            </a:r>
            <a:endParaRPr sz="1200"/>
          </a:p>
        </p:txBody>
      </p:sp>
      <p:sp>
        <p:nvSpPr>
          <p:cNvPr id="1024103557" name="Google Shape;170;p29"/>
          <p:cNvSpPr txBox="1"/>
          <p:nvPr>
            <p:ph type="body" idx="4294967295"/>
          </p:nvPr>
        </p:nvSpPr>
        <p:spPr bwMode="auto">
          <a:xfrm>
            <a:off x="1344600" y="243730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defRPr/>
            </a:pPr>
            <a:r>
              <a:rPr lang="en" sz="1200"/>
              <a:t>Javascript:</a:t>
            </a:r>
            <a:endParaRPr sz="1200"/>
          </a:p>
        </p:txBody>
      </p:sp>
      <p:sp>
        <p:nvSpPr>
          <p:cNvPr id="882736388" name="Google Shape;171;p29"/>
          <p:cNvSpPr txBox="1"/>
          <p:nvPr/>
        </p:nvSpPr>
        <p:spPr bwMode="auto">
          <a:xfrm>
            <a:off x="1344600" y="2803900"/>
            <a:ext cx="6966900" cy="122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150">
                <a:solidFill>
                  <a:srgbClr val="F06292"/>
                </a:solidFill>
                <a:latin typeface="Roboto Mono"/>
                <a:ea typeface="Roboto Mono"/>
                <a:cs typeface="Roboto Mono"/>
              </a:rPr>
              <a:t>// Most basic simple (function) React JSX Component</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4DD0E1"/>
                </a:solidFill>
                <a:latin typeface="Roboto Mono"/>
                <a:ea typeface="Roboto Mono"/>
                <a:cs typeface="Roboto Mono"/>
              </a:rPr>
              <a:t>const</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HelloWorld</a:t>
            </a:r>
            <a:r>
              <a:rPr lang="en" sz="1150">
                <a:solidFill>
                  <a:srgbClr val="ECEFF1"/>
                </a:solidFill>
                <a:latin typeface="Roboto Mono"/>
                <a:ea typeface="Roboto Mono"/>
                <a:cs typeface="Roboto Mono"/>
              </a:rPr>
              <a:t> = () =&gt; {</a:t>
            </a:r>
            <a:endParaRPr sz="1150">
              <a:solidFill>
                <a:srgbClr val="ECEFF1"/>
              </a:solidFill>
              <a:latin typeface="Roboto Mono"/>
              <a:ea typeface="Roboto Mono"/>
              <a:cs typeface="Roboto Mono"/>
            </a:endParaRPr>
          </a:p>
          <a:p>
            <a:pPr marL="0" lvl="0" indent="0" algn="l" rtl="0">
              <a:spcBef>
                <a:spcPts val="0"/>
              </a:spcBef>
              <a:spcAft>
                <a:spcPts val="0"/>
              </a:spcAft>
              <a:buNone/>
              <a:defRPr/>
            </a:pPr>
            <a:r>
              <a:rPr lang="en" sz="1150">
                <a:solidFill>
                  <a:srgbClr val="ECEFF1"/>
                </a:solidFill>
                <a:latin typeface="Roboto Mono"/>
                <a:ea typeface="Roboto Mono"/>
                <a:cs typeface="Roboto Mono"/>
              </a:rPr>
              <a:t>  </a:t>
            </a:r>
            <a:r>
              <a:rPr lang="en" sz="1150">
                <a:solidFill>
                  <a:srgbClr val="4DD0E1"/>
                </a:solidFill>
                <a:latin typeface="Roboto Mono"/>
                <a:ea typeface="Roboto Mono"/>
                <a:cs typeface="Roboto Mono"/>
              </a:rPr>
              <a:t>return</a:t>
            </a:r>
            <a:r>
              <a:rPr lang="en" sz="1150">
                <a:solidFill>
                  <a:srgbClr val="ECEFF1"/>
                </a:solidFill>
                <a:latin typeface="Roboto Mono"/>
                <a:ea typeface="Roboto Mono"/>
                <a:cs typeface="Roboto Mono"/>
              </a:rPr>
              <a:t> (&lt;div&gt; </a:t>
            </a:r>
            <a:r>
              <a:rPr lang="en" sz="1150">
                <a:solidFill>
                  <a:srgbClr val="CE93D8"/>
                </a:solidFill>
                <a:latin typeface="Roboto Mono"/>
                <a:ea typeface="Roboto Mono"/>
                <a:cs typeface="Roboto Mono"/>
              </a:rPr>
              <a:t>Hello</a:t>
            </a:r>
            <a:r>
              <a:rPr lang="en" sz="1150">
                <a:solidFill>
                  <a:srgbClr val="ECEFF1"/>
                </a:solidFill>
                <a:latin typeface="Roboto Mono"/>
                <a:ea typeface="Roboto Mono"/>
                <a:cs typeface="Roboto Mono"/>
              </a:rPr>
              <a:t> </a:t>
            </a:r>
            <a:r>
              <a:rPr lang="en" sz="1150">
                <a:solidFill>
                  <a:srgbClr val="CE93D8"/>
                </a:solidFill>
                <a:latin typeface="Roboto Mono"/>
                <a:ea typeface="Roboto Mono"/>
                <a:cs typeface="Roboto Mono"/>
              </a:rPr>
              <a:t>World</a:t>
            </a:r>
            <a:r>
              <a:rPr lang="en" sz="1150">
                <a:solidFill>
                  <a:srgbClr val="ECEFF1"/>
                </a:solidFill>
                <a:latin typeface="Roboto Mono"/>
                <a:ea typeface="Roboto Mono"/>
                <a:cs typeface="Roboto Mono"/>
              </a:rPr>
              <a:t>, you are func-y &lt;/div&gt;);</a:t>
            </a:r>
            <a:endParaRPr sz="1150">
              <a:solidFill>
                <a:srgbClr val="ECEFF1"/>
              </a:solidFill>
              <a:latin typeface="Roboto Mono"/>
              <a:ea typeface="Roboto Mono"/>
              <a:cs typeface="Roboto Mono"/>
            </a:endParaRPr>
          </a:p>
          <a:p>
            <a:pPr marL="0" lvl="0" indent="0" algn="l" rtl="0">
              <a:lnSpc>
                <a:spcPct val="146739"/>
              </a:lnSpc>
              <a:spcBef>
                <a:spcPts val="0"/>
              </a:spcBef>
              <a:spcAft>
                <a:spcPts val="0"/>
              </a:spcAft>
              <a:buNone/>
              <a:defRPr/>
            </a:pPr>
            <a:r>
              <a:rPr lang="en" sz="1150">
                <a:solidFill>
                  <a:srgbClr val="ECEFF1"/>
                </a:solidFill>
                <a:latin typeface="Roboto Mono"/>
                <a:ea typeface="Roboto Mono"/>
                <a:cs typeface="Roboto Mono"/>
              </a:rPr>
              <a:t>}</a:t>
            </a:r>
            <a:endParaRPr sz="1150">
              <a:solidFill>
                <a:srgbClr val="ECEFF1"/>
              </a:solidFill>
              <a:latin typeface="Roboto Mono"/>
              <a:ea typeface="Roboto Mono"/>
              <a:cs typeface="Roboto Mono"/>
            </a:endParaRPr>
          </a:p>
        </p:txBody>
      </p:sp>
      <p:sp>
        <p:nvSpPr>
          <p:cNvPr id="768776048" name="Google Shape;172;p29"/>
          <p:cNvSpPr txBox="1"/>
          <p:nvPr>
            <p:ph type="body" idx="4294967295"/>
          </p:nvPr>
        </p:nvSpPr>
        <p:spPr bwMode="auto">
          <a:xfrm>
            <a:off x="5244825" y="1399950"/>
            <a:ext cx="3999900" cy="36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200"/>
              <a:t>Example:</a:t>
            </a:r>
            <a:br>
              <a:rPr lang="en" sz="1200"/>
            </a:br>
            <a:r>
              <a:rPr lang="en" sz="1200" u="sng">
                <a:solidFill>
                  <a:schemeClr val="hlink"/>
                </a:solidFill>
                <a:hlinkClick r:id="rId3" tooltip=""/>
              </a:rPr>
              <a:t>https://jsfiddle.net/dgmouris/rubjdt6k/6/</a:t>
            </a:r>
            <a:br>
              <a:rPr lang="en" sz="1200"/>
            </a:br>
            <a:r>
              <a:rPr lang="en" sz="1200" u="sng">
                <a:solidFill>
                  <a:schemeClr val="hlink"/>
                </a:solidFill>
                <a:hlinkClick r:id="rId4" tooltip=""/>
              </a:rPr>
              <a:t>https://jsfiddle.net/dgmouris/rubjdt6k/14/</a:t>
            </a:r>
            <a:r>
              <a:rPr lang="en" sz="1200"/>
              <a:t> </a:t>
            </a:r>
            <a:endParaRPr sz="1200"/>
          </a:p>
          <a:p>
            <a:pPr marL="0" lvl="0" indent="0" algn="l" rtl="0">
              <a:spcBef>
                <a:spcPts val="1600"/>
              </a:spcBef>
              <a:spcAft>
                <a:spcPts val="1600"/>
              </a:spcAft>
              <a:buNone/>
              <a:defRPr/>
            </a:pP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6739851" name="Google Shape;177;p30"/>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We’re going use Function Based Components</a:t>
            </a:r>
            <a:endParaRPr/>
          </a:p>
        </p:txBody>
      </p:sp>
      <p:sp>
        <p:nvSpPr>
          <p:cNvPr id="160333437" name="Google Shape;178;p30"/>
          <p:cNvSpPr txBox="1"/>
          <p:nvPr>
            <p:ph type="body" idx="1"/>
          </p:nvPr>
        </p:nvSpPr>
        <p:spPr bwMode="auto">
          <a:xfrm>
            <a:off x="387900" y="1329800"/>
            <a:ext cx="8368200" cy="36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a:t>Class based components are great, but the standard in React.js and Next.js has been to use function based examples and hooks (of which we’ll be learning about a ton).</a:t>
            </a:r>
            <a:endParaRPr/>
          </a:p>
          <a:p>
            <a:pPr marL="0" lvl="0" indent="0" algn="l" rtl="0">
              <a:spcBef>
                <a:spcPts val="1600"/>
              </a:spcBef>
              <a:spcAft>
                <a:spcPts val="0"/>
              </a:spcAft>
              <a:buNone/>
              <a:defRPr/>
            </a:pPr>
            <a:r>
              <a:rPr lang="en"/>
              <a:t>So if you’re thinking to yourself, I want to learn one way of understanding how these components work, we’re going to be focusing on that.</a:t>
            </a:r>
            <a:endParaRPr/>
          </a:p>
          <a:p>
            <a:pPr marL="0" lvl="0" indent="0" algn="l" rtl="0">
              <a:spcBef>
                <a:spcPts val="1600"/>
              </a:spcBef>
              <a:spcAft>
                <a:spcPts val="0"/>
              </a:spcAft>
              <a:buNone/>
              <a:defRPr/>
            </a:pPr>
            <a:endParaRPr/>
          </a:p>
          <a:p>
            <a:pPr marL="0" lvl="0" indent="0" algn="l" rtl="0">
              <a:spcBef>
                <a:spcPts val="1600"/>
              </a:spcBef>
              <a:spcAft>
                <a:spcPts val="160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1944937" name="Google Shape;183;p31"/>
          <p:cNvSpPr txBox="1"/>
          <p:nvPr>
            <p:ph type="title"/>
          </p:nvPr>
        </p:nvSpPr>
        <p:spPr bwMode="auto">
          <a:xfrm>
            <a:off x="248400" y="1440025"/>
            <a:ext cx="4045199"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a:pPr>
            <a:r>
              <a:rPr lang="en"/>
              <a:t>Where are we?</a:t>
            </a:r>
            <a:endParaRPr/>
          </a:p>
        </p:txBody>
      </p:sp>
      <p:sp>
        <p:nvSpPr>
          <p:cNvPr id="992458445" name="Google Shape;184;p31"/>
          <p:cNvSpPr txBox="1"/>
          <p:nvPr>
            <p:ph type="body" idx="2"/>
          </p:nvPr>
        </p:nvSpPr>
        <p:spPr bwMode="auto">
          <a:xfrm>
            <a:off x="4946900" y="1086825"/>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defRPr/>
            </a:pPr>
            <a:r>
              <a:rPr lang="en" sz="1600"/>
              <a:t>Expectations</a:t>
            </a:r>
            <a:endParaRPr sz="1600"/>
          </a:p>
          <a:p>
            <a:pPr marL="457200" lvl="0" indent="-330200" algn="l" rtl="0">
              <a:spcBef>
                <a:spcPts val="0"/>
              </a:spcBef>
              <a:spcAft>
                <a:spcPts val="0"/>
              </a:spcAft>
              <a:buSzPts val="1600"/>
              <a:buAutoNum type="arabicPeriod"/>
              <a:defRPr/>
            </a:pPr>
            <a:r>
              <a:rPr lang="en" sz="1600"/>
              <a:t>What is React</a:t>
            </a:r>
            <a:endParaRPr sz="1600"/>
          </a:p>
          <a:p>
            <a:pPr marL="457200" lvl="0" indent="-330200" algn="l" rtl="0">
              <a:spcBef>
                <a:spcPts val="0"/>
              </a:spcBef>
              <a:spcAft>
                <a:spcPts val="0"/>
              </a:spcAft>
              <a:buSzPts val="1600"/>
              <a:buAutoNum type="arabicPeriod"/>
              <a:defRPr/>
            </a:pPr>
            <a:r>
              <a:rPr lang="en" sz="1600"/>
              <a:t>Why use React</a:t>
            </a:r>
            <a:endParaRPr sz="1600"/>
          </a:p>
          <a:p>
            <a:pPr marL="457200" lvl="0" indent="-330200" algn="l" rtl="0">
              <a:spcBef>
                <a:spcPts val="0"/>
              </a:spcBef>
              <a:spcAft>
                <a:spcPts val="0"/>
              </a:spcAft>
              <a:buSzPts val="1600"/>
              <a:buAutoNum type="arabicPeriod"/>
              <a:defRPr/>
            </a:pPr>
            <a:r>
              <a:rPr lang="en" sz="1600"/>
              <a:t>What is Next.js</a:t>
            </a:r>
            <a:endParaRPr sz="1600"/>
          </a:p>
          <a:p>
            <a:pPr marL="457200" lvl="0" indent="-330200" algn="l" rtl="0">
              <a:spcBef>
                <a:spcPts val="0"/>
              </a:spcBef>
              <a:spcAft>
                <a:spcPts val="0"/>
              </a:spcAft>
              <a:buSzPts val="1600"/>
              <a:buAutoNum type="arabicPeriod"/>
              <a:defRPr/>
            </a:pPr>
            <a:r>
              <a:rPr lang="en" sz="1600"/>
              <a:t>Okay Who uses react and Next.js</a:t>
            </a:r>
            <a:endParaRPr sz="1600"/>
          </a:p>
          <a:p>
            <a:pPr marL="457200" lvl="0" indent="-330200" algn="l" rtl="0">
              <a:spcBef>
                <a:spcPts val="0"/>
              </a:spcBef>
              <a:spcAft>
                <a:spcPts val="0"/>
              </a:spcAft>
              <a:buSzPts val="1600"/>
              <a:buAutoNum type="arabicPeriod"/>
              <a:defRPr/>
            </a:pPr>
            <a:r>
              <a:rPr lang="en" sz="1600"/>
              <a:t>React Components</a:t>
            </a:r>
            <a:endParaRPr sz="1600"/>
          </a:p>
          <a:p>
            <a:pPr marL="457200" lvl="0" indent="-330200" algn="l" rtl="0">
              <a:spcBef>
                <a:spcPts val="0"/>
              </a:spcBef>
              <a:spcAft>
                <a:spcPts val="0"/>
              </a:spcAft>
              <a:buSzPts val="1600"/>
              <a:buAutoNum type="arabicPeriod"/>
              <a:defRPr/>
            </a:pPr>
            <a:r>
              <a:rPr lang="en" sz="1600"/>
              <a:t>What does it look like?</a:t>
            </a:r>
            <a:endParaRPr sz="1600"/>
          </a:p>
          <a:p>
            <a:pPr marL="457200" lvl="0" indent="-330200" algn="l" rtl="0">
              <a:spcBef>
                <a:spcPts val="0"/>
              </a:spcBef>
              <a:spcAft>
                <a:spcPts val="0"/>
              </a:spcAft>
              <a:buSzPts val="1600"/>
              <a:buAutoNum type="arabicPeriod"/>
              <a:defRPr/>
            </a:pPr>
            <a:r>
              <a:rPr lang="en" sz="1600"/>
              <a:t>A small intro to JSX</a:t>
            </a:r>
            <a:endParaRPr sz="1600"/>
          </a:p>
          <a:p>
            <a:pPr marL="457200" lvl="0" indent="-330200" algn="l" rtl="0">
              <a:spcBef>
                <a:spcPts val="0"/>
              </a:spcBef>
              <a:spcAft>
                <a:spcPts val="0"/>
              </a:spcAft>
              <a:buSzPts val="1600"/>
              <a:buAutoNum type="arabicPeriod"/>
              <a:defRPr/>
            </a:pPr>
            <a:r>
              <a:rPr lang="en" sz="1600"/>
              <a:t>A Class Based Component with JSX</a:t>
            </a:r>
            <a:endParaRPr sz="1600"/>
          </a:p>
          <a:p>
            <a:pPr marL="457200" lvl="0" indent="-330200" algn="l" rtl="0">
              <a:spcBef>
                <a:spcPts val="0"/>
              </a:spcBef>
              <a:spcAft>
                <a:spcPts val="0"/>
              </a:spcAft>
              <a:buSzPts val="1600"/>
              <a:buAutoNum type="arabicPeriod"/>
              <a:defRPr/>
            </a:pPr>
            <a:r>
              <a:rPr lang="en" sz="1600"/>
              <a:t>A Function Based Component (Hook) </a:t>
            </a:r>
            <a:endParaRPr sz="1600"/>
          </a:p>
          <a:p>
            <a:pPr marL="457200" lvl="0" indent="-330200" algn="l" rtl="0">
              <a:spcBef>
                <a:spcPts val="0"/>
              </a:spcBef>
              <a:spcAft>
                <a:spcPts val="0"/>
              </a:spcAft>
              <a:buSzPts val="1600"/>
              <a:buAutoNum type="arabicPeriod"/>
              <a:defRPr/>
            </a:pPr>
            <a:r>
              <a:rPr lang="en" sz="1600"/>
              <a:t>Let’s Install and Explore Next.js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0492860" name="Google Shape;189;p32"/>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Let’s Install and Explore Next.js </a:t>
            </a:r>
            <a:endParaRPr/>
          </a:p>
        </p:txBody>
      </p:sp>
      <p:sp>
        <p:nvSpPr>
          <p:cNvPr id="1595253634" name="Google Shape;190;p32"/>
          <p:cNvSpPr txBox="1"/>
          <p:nvPr>
            <p:ph type="body" idx="1"/>
          </p:nvPr>
        </p:nvSpPr>
        <p:spPr bwMode="auto">
          <a:xfrm>
            <a:off x="387900" y="14898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r>
              <a:rPr lang="en" sz="1400"/>
              <a:t>Let’s install the “create-next-app” with npm globally so that we can explore how to create a new project, run it and explore the folder structure.</a:t>
            </a:r>
            <a:endParaRPr sz="1400"/>
          </a:p>
          <a:p>
            <a:pPr marL="457200" lvl="0" indent="-317500" algn="l" rtl="0">
              <a:spcBef>
                <a:spcPts val="1600"/>
              </a:spcBef>
              <a:spcAft>
                <a:spcPts val="0"/>
              </a:spcAft>
              <a:buSzPts val="1400"/>
              <a:buAutoNum type="arabicPeriod"/>
              <a:defRPr/>
            </a:pPr>
            <a:r>
              <a:rPr lang="en" sz="1400"/>
              <a:t>Install create-next-app</a:t>
            </a:r>
            <a:br>
              <a:rPr lang="en" sz="1400"/>
            </a:br>
            <a:r>
              <a:rPr lang="en" sz="1400">
                <a:solidFill>
                  <a:srgbClr val="ECEFF1"/>
                </a:solidFill>
                <a:latin typeface="Roboto Mono"/>
                <a:ea typeface="Roboto Mono"/>
                <a:cs typeface="Roboto Mono"/>
              </a:rPr>
              <a:t>npm install -g create-next-app@latest</a:t>
            </a:r>
            <a:endParaRPr sz="1400"/>
          </a:p>
          <a:p>
            <a:pPr marL="457200" lvl="0" indent="-317500" algn="l" rtl="0">
              <a:spcBef>
                <a:spcPts val="0"/>
              </a:spcBef>
              <a:spcAft>
                <a:spcPts val="0"/>
              </a:spcAft>
              <a:buSzPts val="1400"/>
              <a:buAutoNum type="arabicPeriod"/>
              <a:defRPr/>
            </a:pPr>
            <a:r>
              <a:rPr lang="en" sz="1400"/>
              <a:t>Create a project with create-next-app</a:t>
            </a:r>
            <a:br>
              <a:rPr lang="en" sz="1400"/>
            </a:br>
            <a:r>
              <a:rPr lang="en" sz="1400">
                <a:solidFill>
                  <a:srgbClr val="ECEFF1"/>
                </a:solidFill>
                <a:latin typeface="Roboto Mono"/>
                <a:ea typeface="Roboto Mono"/>
                <a:cs typeface="Roboto Mono"/>
              </a:rPr>
              <a:t>npx create-next-app@latest hello-next </a:t>
            </a:r>
            <a:br>
              <a:rPr lang="en" sz="1400">
                <a:solidFill>
                  <a:srgbClr val="ECEFF1"/>
                </a:solidFill>
                <a:latin typeface="Roboto Mono"/>
                <a:ea typeface="Roboto Mono"/>
                <a:cs typeface="Roboto Mono"/>
              </a:rPr>
            </a:br>
            <a:r>
              <a:rPr lang="en" sz="1400"/>
              <a:t>This is going to take a while to build your project in the nested folder (</a:t>
            </a:r>
            <a:r>
              <a:rPr lang="en" sz="1400">
                <a:solidFill>
                  <a:srgbClr val="ECEFF1"/>
                </a:solidFill>
                <a:latin typeface="Roboto Mono"/>
                <a:ea typeface="Roboto Mono"/>
                <a:cs typeface="Roboto Mono"/>
              </a:rPr>
              <a:t>hello-next</a:t>
            </a:r>
            <a:r>
              <a:rPr lang="en" sz="1400"/>
              <a:t>)</a:t>
            </a:r>
            <a:endParaRPr sz="1400"/>
          </a:p>
          <a:p>
            <a:pPr marL="457200" lvl="0" indent="-317500" algn="l" rtl="0">
              <a:spcBef>
                <a:spcPts val="0"/>
              </a:spcBef>
              <a:spcAft>
                <a:spcPts val="0"/>
              </a:spcAft>
              <a:buSzPts val="1400"/>
              <a:buAutoNum type="arabicPeriod"/>
              <a:defRPr/>
            </a:pPr>
            <a:r>
              <a:rPr lang="en" sz="1400"/>
              <a:t>Run the project</a:t>
            </a:r>
            <a:endParaRPr sz="1400"/>
          </a:p>
          <a:p>
            <a:pPr marL="914400" lvl="1" indent="-317500" algn="l" rtl="0">
              <a:spcBef>
                <a:spcPts val="0"/>
              </a:spcBef>
              <a:spcAft>
                <a:spcPts val="0"/>
              </a:spcAft>
              <a:buSzPts val="1400"/>
              <a:buAutoNum type="alphaLcPeriod"/>
              <a:defRPr/>
            </a:pPr>
            <a:r>
              <a:rPr lang="en"/>
              <a:t>Go in to the folder</a:t>
            </a:r>
            <a:br>
              <a:rPr lang="en"/>
            </a:br>
            <a:r>
              <a:rPr lang="en"/>
              <a:t>c</a:t>
            </a:r>
            <a:r>
              <a:rPr lang="en"/>
              <a:t>d hello-next</a:t>
            </a:r>
            <a:endParaRPr/>
          </a:p>
          <a:p>
            <a:pPr marL="914400" lvl="1" indent="-317500" algn="l" rtl="0">
              <a:spcBef>
                <a:spcPts val="0"/>
              </a:spcBef>
              <a:spcAft>
                <a:spcPts val="0"/>
              </a:spcAft>
              <a:buSzPts val="1400"/>
              <a:buAutoNum type="alphaLcPeriod"/>
              <a:defRPr/>
            </a:pPr>
            <a:r>
              <a:rPr lang="en"/>
              <a:t>Run the project</a:t>
            </a:r>
            <a:br>
              <a:rPr lang="en"/>
            </a:br>
            <a:r>
              <a:rPr lang="en">
                <a:solidFill>
                  <a:srgbClr val="ECEFF1"/>
                </a:solidFill>
                <a:latin typeface="Roboto Mono"/>
                <a:ea typeface="Roboto Mono"/>
                <a:cs typeface="Roboto Mono"/>
              </a:rPr>
              <a:t>npm run dev</a:t>
            </a:r>
            <a:br>
              <a:rPr lang="en" sz="1400"/>
            </a:br>
            <a:br>
              <a:rPr lang="en" sz="1400"/>
            </a:b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8728495" name="Google Shape;195;p33"/>
          <p:cNvSpPr txBox="1"/>
          <p:nvPr>
            <p:ph type="title"/>
          </p:nvPr>
        </p:nvSpPr>
        <p:spPr bwMode="auto">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defRPr/>
            </a:pPr>
            <a:r>
              <a:rPr lang="en"/>
              <a:t>Reading/Resources</a:t>
            </a:r>
            <a:endParaRPr/>
          </a:p>
        </p:txBody>
      </p:sp>
      <p:sp>
        <p:nvSpPr>
          <p:cNvPr id="1288401737" name="Google Shape;196;p33"/>
          <p:cNvSpPr txBox="1"/>
          <p:nvPr>
            <p:ph type="body" idx="1"/>
          </p:nvPr>
        </p:nvSpPr>
        <p:spPr bwMode="auto">
          <a:xfrm>
            <a:off x="387900" y="1289999"/>
            <a:ext cx="8368200" cy="30789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defRPr/>
            </a:pPr>
            <a:r>
              <a:rPr lang="en" sz="1100"/>
              <a:t>Next.js</a:t>
            </a:r>
            <a:endParaRPr sz="1100"/>
          </a:p>
          <a:p>
            <a:pPr marL="914400" lvl="1" indent="-298450" algn="l" rtl="0">
              <a:spcBef>
                <a:spcPts val="0"/>
              </a:spcBef>
              <a:spcAft>
                <a:spcPts val="0"/>
              </a:spcAft>
              <a:buSzPts val="1100"/>
              <a:buChar char="○"/>
              <a:defRPr/>
            </a:pPr>
            <a:r>
              <a:rPr lang="en" sz="1100" u="sng">
                <a:solidFill>
                  <a:schemeClr val="accent5"/>
                </a:solidFill>
                <a:hlinkClick r:id="rId3" tooltip=""/>
              </a:rPr>
              <a:t>https://nextjs.org/</a:t>
            </a:r>
            <a:r>
              <a:rPr lang="en" sz="1100"/>
              <a:t> </a:t>
            </a:r>
            <a:endParaRPr sz="1100"/>
          </a:p>
          <a:p>
            <a:pPr marL="457200" lvl="0" indent="-298450" algn="l" rtl="0">
              <a:spcBef>
                <a:spcPts val="0"/>
              </a:spcBef>
              <a:spcAft>
                <a:spcPts val="0"/>
              </a:spcAft>
              <a:buSzPts val="1100"/>
              <a:buChar char="●"/>
              <a:defRPr/>
            </a:pPr>
            <a:r>
              <a:rPr lang="en" sz="1100"/>
              <a:t>Single Page Application</a:t>
            </a:r>
            <a:endParaRPr sz="1100"/>
          </a:p>
          <a:p>
            <a:pPr marL="914400" lvl="1" indent="-298450" algn="l" rtl="0">
              <a:spcBef>
                <a:spcPts val="0"/>
              </a:spcBef>
              <a:spcAft>
                <a:spcPts val="0"/>
              </a:spcAft>
              <a:buSzPts val="1100"/>
              <a:buChar char="○"/>
              <a:defRPr/>
            </a:pPr>
            <a:r>
              <a:rPr lang="en" sz="1100" u="sng">
                <a:solidFill>
                  <a:schemeClr val="hlink"/>
                </a:solidFill>
                <a:hlinkClick r:id="rId4" tooltip=""/>
              </a:rPr>
              <a:t>https://en.wikipedia.org/wiki/Single-page_application</a:t>
            </a:r>
            <a:r>
              <a:rPr lang="en" sz="1100"/>
              <a:t> </a:t>
            </a:r>
            <a:endParaRPr sz="1100"/>
          </a:p>
          <a:p>
            <a:pPr marL="457200" lvl="0" indent="-298450" algn="l" rtl="0">
              <a:spcBef>
                <a:spcPts val="0"/>
              </a:spcBef>
              <a:spcAft>
                <a:spcPts val="0"/>
              </a:spcAft>
              <a:buSzPts val="1100"/>
              <a:buChar char="●"/>
              <a:defRPr/>
            </a:pPr>
            <a:r>
              <a:rPr lang="en" sz="1100"/>
              <a:t>React Website</a:t>
            </a:r>
            <a:endParaRPr sz="1100"/>
          </a:p>
          <a:p>
            <a:pPr marL="914400" lvl="1" indent="-298450" algn="l" rtl="0">
              <a:spcBef>
                <a:spcPts val="0"/>
              </a:spcBef>
              <a:spcAft>
                <a:spcPts val="0"/>
              </a:spcAft>
              <a:buSzPts val="1100"/>
              <a:buChar char="○"/>
              <a:defRPr/>
            </a:pPr>
            <a:r>
              <a:rPr lang="en" sz="1100" u="sng">
                <a:solidFill>
                  <a:schemeClr val="hlink"/>
                </a:solidFill>
                <a:hlinkClick r:id="rId5" tooltip=""/>
              </a:rPr>
              <a:t>https://reactjs.org/</a:t>
            </a:r>
            <a:r>
              <a:rPr lang="en" sz="1100"/>
              <a:t> </a:t>
            </a:r>
            <a:endParaRPr sz="1100"/>
          </a:p>
          <a:p>
            <a:pPr marL="457200" lvl="0" indent="-298450" algn="l" rtl="0">
              <a:spcBef>
                <a:spcPts val="0"/>
              </a:spcBef>
              <a:spcAft>
                <a:spcPts val="0"/>
              </a:spcAft>
              <a:buSzPts val="1100"/>
              <a:buChar char="●"/>
              <a:defRPr/>
            </a:pPr>
            <a:r>
              <a:rPr lang="en" sz="1100"/>
              <a:t>Hooks FAQ</a:t>
            </a:r>
            <a:endParaRPr sz="1100"/>
          </a:p>
          <a:p>
            <a:pPr marL="914400" lvl="1" indent="-298450" algn="l" rtl="0">
              <a:spcBef>
                <a:spcPts val="0"/>
              </a:spcBef>
              <a:spcAft>
                <a:spcPts val="0"/>
              </a:spcAft>
              <a:buSzPts val="1100"/>
              <a:buChar char="○"/>
              <a:defRPr/>
            </a:pPr>
            <a:r>
              <a:rPr lang="en" sz="1100" u="sng">
                <a:solidFill>
                  <a:schemeClr val="hlink"/>
                </a:solidFill>
                <a:hlinkClick r:id="rId6" tooltip=""/>
              </a:rPr>
              <a:t>https://reactjs.org/docs/hooks-faq.html</a:t>
            </a:r>
            <a:r>
              <a:rPr lang="en" sz="1100"/>
              <a:t> </a:t>
            </a:r>
            <a:endParaRPr sz="1100"/>
          </a:p>
          <a:p>
            <a:pPr marL="457200" lvl="0" indent="-298450" algn="l" rtl="0">
              <a:spcBef>
                <a:spcPts val="0"/>
              </a:spcBef>
              <a:spcAft>
                <a:spcPts val="0"/>
              </a:spcAft>
              <a:buSzPts val="1100"/>
              <a:buChar char="●"/>
              <a:defRPr/>
            </a:pPr>
            <a:r>
              <a:rPr lang="en" sz="1100"/>
              <a:t>Gradual Adoption </a:t>
            </a:r>
            <a:endParaRPr sz="1100"/>
          </a:p>
          <a:p>
            <a:pPr marL="914400" lvl="1" indent="-298450" algn="l" rtl="0">
              <a:spcBef>
                <a:spcPts val="0"/>
              </a:spcBef>
              <a:spcAft>
                <a:spcPts val="0"/>
              </a:spcAft>
              <a:buSzPts val="1100"/>
              <a:buChar char="○"/>
              <a:defRPr/>
            </a:pPr>
            <a:r>
              <a:rPr lang="en" sz="1100" u="sng">
                <a:solidFill>
                  <a:schemeClr val="hlink"/>
                </a:solidFill>
                <a:hlinkClick r:id="rId7" tooltip=""/>
              </a:rPr>
              <a:t>https://reactjs.org/docs/hooks-intro.html#gradual-adoption-strategy</a:t>
            </a:r>
            <a:r>
              <a:rPr lang="en" sz="1100"/>
              <a:t> </a:t>
            </a:r>
            <a:endParaRPr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